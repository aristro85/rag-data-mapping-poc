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838"/>
        </a:solidFill>
      </p:bgPr>
    </p:bg>
    <p:spTree>
      <p:nvGrpSpPr>
        <p:cNvPr id="1" name=""/>
        <p:cNvGrpSpPr/>
        <p:nvPr/>
      </p:nvGrpSpPr>
      <p:grpSpPr>
        <a:xfrm>
          <a:off x="0" y="0"/>
          <a:ext cx="0" cy="0"/>
          <a:chOff x="0" y="0"/>
          <a:chExt cx="0" cy="0"/>
        </a:xfrm>
      </p:grpSpPr>
      <p:sp>
        <p:nvSpPr>
          <p:cNvPr id="2" name="Shape 0"/>
          <p:cNvSpPr/>
          <p:nvPr/>
        </p:nvSpPr>
        <p:spPr>
          <a:xfrm>
            <a:off x="8686800" y="-1828800"/>
            <a:ext cx="5486400" cy="5486400"/>
          </a:xfrm>
          <a:prstGeom prst="ellipse">
            <a:avLst/>
          </a:prstGeom>
          <a:solidFill>
            <a:srgbClr val="1E2761">
              <a:alpha val="70000"/>
            </a:srgbClr>
          </a:solidFill>
          <a:ln w="12700">
            <a:solidFill>
              <a:srgbClr val="0F1838"/>
            </a:solidFill>
            <a:prstDash val="solid"/>
          </a:ln>
        </p:spPr>
      </p:sp>
      <p:sp>
        <p:nvSpPr>
          <p:cNvPr id="3" name="Shape 1"/>
          <p:cNvSpPr/>
          <p:nvPr/>
        </p:nvSpPr>
        <p:spPr>
          <a:xfrm>
            <a:off x="-1371600" y="4114800"/>
            <a:ext cx="4572000" cy="4572000"/>
          </a:xfrm>
          <a:prstGeom prst="ellipse">
            <a:avLst/>
          </a:prstGeom>
          <a:solidFill>
            <a:srgbClr val="CADCFC">
              <a:alpha val="15000"/>
            </a:srgbClr>
          </a:solidFill>
          <a:ln w="12700">
            <a:solidFill>
              <a:srgbClr val="0F1838"/>
            </a:solidFill>
            <a:prstDash val="solid"/>
          </a:ln>
        </p:spPr>
      </p:sp>
      <p:sp>
        <p:nvSpPr>
          <p:cNvPr id="4" name="Text 2"/>
          <p:cNvSpPr/>
          <p:nvPr/>
        </p:nvSpPr>
        <p:spPr>
          <a:xfrm>
            <a:off x="731520" y="1463040"/>
            <a:ext cx="10058400" cy="365760"/>
          </a:xfrm>
          <a:prstGeom prst="rect">
            <a:avLst/>
          </a:prstGeom>
          <a:noFill/>
          <a:ln/>
        </p:spPr>
        <p:txBody>
          <a:bodyPr wrap="square" lIns="0" tIns="0" rIns="0" bIns="0" rtlCol="0" anchor="ctr"/>
          <a:lstStyle/>
          <a:p>
            <a:pPr indent="0" marL="0">
              <a:buNone/>
            </a:pPr>
            <a:r>
              <a:rPr lang="en-US" sz="1200" b="1" spc="600" kern="0" dirty="0">
                <a:solidFill>
                  <a:srgbClr val="CADCFC"/>
                </a:solidFill>
                <a:latin typeface="Calibri" pitchFamily="34" charset="0"/>
                <a:ea typeface="Calibri" pitchFamily="34" charset="-122"/>
                <a:cs typeface="Calibri" pitchFamily="34" charset="-120"/>
              </a:rPr>
              <a:t>STRATEGY DECK · STARTER FOR DISCUSSION</a:t>
            </a:r>
            <a:endParaRPr lang="en-US" sz="1200" dirty="0"/>
          </a:p>
        </p:txBody>
      </p:sp>
      <p:sp>
        <p:nvSpPr>
          <p:cNvPr id="5" name="Text 3"/>
          <p:cNvSpPr/>
          <p:nvPr/>
        </p:nvSpPr>
        <p:spPr>
          <a:xfrm>
            <a:off x="731520" y="1920240"/>
            <a:ext cx="10515600" cy="1097280"/>
          </a:xfrm>
          <a:prstGeom prst="rect">
            <a:avLst/>
          </a:prstGeom>
          <a:noFill/>
          <a:ln/>
        </p:spPr>
        <p:txBody>
          <a:bodyPr wrap="square" lIns="0" tIns="0" rIns="0" bIns="0" rtlCol="0" anchor="ctr"/>
          <a:lstStyle/>
          <a:p>
            <a:pPr indent="0" marL="0">
              <a:buNone/>
            </a:pPr>
            <a:r>
              <a:rPr lang="en-US" sz="4600" b="1" dirty="0">
                <a:solidFill>
                  <a:srgbClr val="FFFFFF"/>
                </a:solidFill>
                <a:latin typeface="Georgia" pitchFamily="34" charset="0"/>
                <a:ea typeface="Georgia" pitchFamily="34" charset="-122"/>
                <a:cs typeface="Georgia" pitchFamily="34" charset="-120"/>
              </a:rPr>
              <a:t>Runtime Data Redaction in PTE</a:t>
            </a:r>
            <a:endParaRPr lang="en-US" sz="4600" dirty="0"/>
          </a:p>
        </p:txBody>
      </p:sp>
      <p:sp>
        <p:nvSpPr>
          <p:cNvPr id="6" name="Text 4"/>
          <p:cNvSpPr/>
          <p:nvPr/>
        </p:nvSpPr>
        <p:spPr>
          <a:xfrm>
            <a:off x="731520" y="3108960"/>
            <a:ext cx="10515600" cy="640080"/>
          </a:xfrm>
          <a:prstGeom prst="rect">
            <a:avLst/>
          </a:prstGeom>
          <a:noFill/>
          <a:ln/>
        </p:spPr>
        <p:txBody>
          <a:bodyPr wrap="square" lIns="0" tIns="0" rIns="0" bIns="0" rtlCol="0" anchor="ctr"/>
          <a:lstStyle/>
          <a:p>
            <a:pPr indent="0" marL="0">
              <a:buNone/>
            </a:pPr>
            <a:r>
              <a:rPr lang="en-US" sz="2000" i="1" dirty="0">
                <a:solidFill>
                  <a:srgbClr val="CADCFC"/>
                </a:solidFill>
                <a:latin typeface="Georgia" pitchFamily="34" charset="0"/>
                <a:ea typeface="Georgia" pitchFamily="34" charset="-122"/>
                <a:cs typeface="Georgia" pitchFamily="34" charset="-120"/>
              </a:rPr>
              <a:t>Unlocking global QC testing capacity without standing up a new environment</a:t>
            </a:r>
            <a:endParaRPr lang="en-US" sz="2000" dirty="0"/>
          </a:p>
        </p:txBody>
      </p:sp>
      <p:sp>
        <p:nvSpPr>
          <p:cNvPr id="7" name="Shape 5"/>
          <p:cNvSpPr/>
          <p:nvPr/>
        </p:nvSpPr>
        <p:spPr>
          <a:xfrm>
            <a:off x="731520" y="4206240"/>
            <a:ext cx="1828800" cy="0"/>
          </a:xfrm>
          <a:prstGeom prst="line">
            <a:avLst/>
          </a:prstGeom>
          <a:noFill/>
          <a:ln w="25400">
            <a:solidFill>
              <a:srgbClr val="CADCFC"/>
            </a:solidFill>
            <a:prstDash val="solid"/>
          </a:ln>
        </p:spPr>
      </p:sp>
      <p:sp>
        <p:nvSpPr>
          <p:cNvPr id="8" name="Text 6"/>
          <p:cNvSpPr/>
          <p:nvPr/>
        </p:nvSpPr>
        <p:spPr>
          <a:xfrm>
            <a:off x="731520" y="4389120"/>
            <a:ext cx="105156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Commercial Cards ODS  ·  Short-term bridge to Broadcom TDM masked UAT</a:t>
            </a:r>
            <a:endParaRPr lang="en-US" sz="1400" dirty="0"/>
          </a:p>
        </p:txBody>
      </p:sp>
      <p:pic>
        <p:nvPicPr>
          <p:cNvPr id="9" name="Image 0" descr="preencoded.png">    </p:cNvPr>
          <p:cNvPicPr>
            <a:picLocks noChangeAspect="1"/>
          </p:cNvPicPr>
          <p:nvPr/>
        </p:nvPicPr>
        <p:blipFill>
          <a:blip r:embed="rId1"/>
          <a:stretch>
            <a:fillRect/>
          </a:stretch>
        </p:blipFill>
        <p:spPr>
          <a:xfrm>
            <a:off x="731520" y="5669280"/>
            <a:ext cx="457200" cy="457200"/>
          </a:xfrm>
          <a:prstGeom prst="rect">
            <a:avLst/>
          </a:prstGeom>
        </p:spPr>
      </p:pic>
      <p:sp>
        <p:nvSpPr>
          <p:cNvPr id="10" name="Text 7"/>
          <p:cNvSpPr/>
          <p:nvPr/>
        </p:nvSpPr>
        <p:spPr>
          <a:xfrm>
            <a:off x="1280160" y="5715000"/>
            <a:ext cx="10058400" cy="365760"/>
          </a:xfrm>
          <a:prstGeom prst="rect">
            <a:avLst/>
          </a:prstGeom>
          <a:noFill/>
          <a:ln/>
        </p:spPr>
        <p:txBody>
          <a:bodyPr wrap="square" lIns="0" tIns="0" rIns="0" bIns="0"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Oracle Data Redaction · Database Vault · Application Context · Unified Auditing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92608"/>
            <a:ext cx="11247120" cy="274320"/>
          </a:xfrm>
          <a:prstGeom prst="rect">
            <a:avLst/>
          </a:prstGeom>
          <a:noFill/>
          <a:ln/>
        </p:spPr>
        <p:txBody>
          <a:bodyPr wrap="square" lIns="0" tIns="0" rIns="0" bIns="0" rtlCol="0" anchor="ctr"/>
          <a:lstStyle/>
          <a:p>
            <a:pPr indent="0" marL="0">
              <a:buNone/>
            </a:pPr>
            <a:r>
              <a:rPr lang="en-US" sz="1100" b="1" spc="400" kern="0" dirty="0">
                <a:solidFill>
                  <a:srgbClr val="64748B"/>
                </a:solidFill>
                <a:latin typeface="Calibri" pitchFamily="34" charset="0"/>
                <a:ea typeface="Calibri" pitchFamily="34" charset="-122"/>
                <a:cs typeface="Calibri" pitchFamily="34" charset="-120"/>
              </a:rPr>
              <a:t>WHERE WE STAND</a:t>
            </a:r>
            <a:endParaRPr lang="en-US" sz="1100"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The testing capacity gap today</a:t>
            </a:r>
            <a:endParaRPr lang="en-US" sz="2800" dirty="0"/>
          </a:p>
        </p:txBody>
      </p:sp>
      <p:sp>
        <p:nvSpPr>
          <p:cNvPr id="4" name="Shape 2"/>
          <p:cNvSpPr/>
          <p:nvPr/>
        </p:nvSpPr>
        <p:spPr>
          <a:xfrm>
            <a:off x="457200" y="1463040"/>
            <a:ext cx="4114800" cy="4389120"/>
          </a:xfrm>
          <a:prstGeom prst="rect">
            <a:avLst/>
          </a:prstGeom>
          <a:solidFill>
            <a:srgbClr val="1E2761"/>
          </a:solidFill>
          <a:ln w="12700">
            <a:solidFill>
              <a:srgbClr val="1E2761"/>
            </a:solidFill>
            <a:prstDash val="solid"/>
          </a:ln>
        </p:spPr>
      </p:sp>
      <p:sp>
        <p:nvSpPr>
          <p:cNvPr id="5" name="Text 3"/>
          <p:cNvSpPr/>
          <p:nvPr/>
        </p:nvSpPr>
        <p:spPr>
          <a:xfrm>
            <a:off x="640080" y="1737360"/>
            <a:ext cx="3749040" cy="4572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Only</a:t>
            </a:r>
            <a:endParaRPr lang="en-US" sz="1800" dirty="0"/>
          </a:p>
        </p:txBody>
      </p:sp>
      <p:sp>
        <p:nvSpPr>
          <p:cNvPr id="6" name="Text 4"/>
          <p:cNvSpPr/>
          <p:nvPr/>
        </p:nvSpPr>
        <p:spPr>
          <a:xfrm>
            <a:off x="640080" y="2103120"/>
            <a:ext cx="3749040" cy="2011680"/>
          </a:xfrm>
          <a:prstGeom prst="rect">
            <a:avLst/>
          </a:prstGeom>
          <a:noFill/>
          <a:ln/>
        </p:spPr>
        <p:txBody>
          <a:bodyPr wrap="square" lIns="0" tIns="0" rIns="0" bIns="0" rtlCol="0" anchor="ctr"/>
          <a:lstStyle/>
          <a:p>
            <a:pPr indent="0" marL="0">
              <a:buNone/>
            </a:pPr>
            <a:r>
              <a:rPr lang="en-US" sz="13000" b="1" dirty="0">
                <a:solidFill>
                  <a:srgbClr val="FFFFFF"/>
                </a:solidFill>
                <a:latin typeface="Georgia" pitchFamily="34" charset="0"/>
                <a:ea typeface="Georgia" pitchFamily="34" charset="-122"/>
                <a:cs typeface="Georgia" pitchFamily="34" charset="-120"/>
              </a:rPr>
              <a:t>5%</a:t>
            </a:r>
            <a:endParaRPr lang="en-US" sz="13000" dirty="0"/>
          </a:p>
        </p:txBody>
      </p:sp>
      <p:sp>
        <p:nvSpPr>
          <p:cNvPr id="7" name="Text 5"/>
          <p:cNvSpPr/>
          <p:nvPr/>
        </p:nvSpPr>
        <p:spPr>
          <a:xfrm>
            <a:off x="640080" y="4206240"/>
            <a:ext cx="3749040" cy="91440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of our QC capacity can touch PROD-quality data today</a:t>
            </a:r>
            <a:endParaRPr lang="en-US" sz="1600" dirty="0"/>
          </a:p>
        </p:txBody>
      </p:sp>
      <p:sp>
        <p:nvSpPr>
          <p:cNvPr id="8" name="Shape 6"/>
          <p:cNvSpPr/>
          <p:nvPr/>
        </p:nvSpPr>
        <p:spPr>
          <a:xfrm>
            <a:off x="640080" y="5212080"/>
            <a:ext cx="1371600" cy="0"/>
          </a:xfrm>
          <a:prstGeom prst="line">
            <a:avLst/>
          </a:prstGeom>
          <a:noFill/>
          <a:ln w="25400">
            <a:solidFill>
              <a:srgbClr val="CADCFC"/>
            </a:solidFill>
            <a:prstDash val="solid"/>
          </a:ln>
        </p:spPr>
      </p:sp>
      <p:sp>
        <p:nvSpPr>
          <p:cNvPr id="9" name="Text 7"/>
          <p:cNvSpPr/>
          <p:nvPr/>
        </p:nvSpPr>
        <p:spPr>
          <a:xfrm>
            <a:off x="640080" y="5394960"/>
            <a:ext cx="3749040" cy="365760"/>
          </a:xfrm>
          <a:prstGeom prst="rect">
            <a:avLst/>
          </a:prstGeom>
          <a:noFill/>
          <a:ln/>
        </p:spPr>
        <p:txBody>
          <a:bodyPr wrap="square" lIns="0" tIns="0" rIns="0" bIns="0"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US-cleared testers only</a:t>
            </a:r>
            <a:endParaRPr lang="en-US" sz="1200" dirty="0"/>
          </a:p>
        </p:txBody>
      </p:sp>
      <p:sp>
        <p:nvSpPr>
          <p:cNvPr id="10" name="Shape 8"/>
          <p:cNvSpPr/>
          <p:nvPr/>
        </p:nvSpPr>
        <p:spPr>
          <a:xfrm>
            <a:off x="4937760" y="1463040"/>
            <a:ext cx="6858000" cy="1371600"/>
          </a:xfrm>
          <a:prstGeom prst="rect">
            <a:avLst/>
          </a:prstGeom>
          <a:solidFill>
            <a:srgbClr val="FFFFFF"/>
          </a:solidFill>
          <a:ln w="9525">
            <a:solidFill>
              <a:srgbClr val="E2E8F0"/>
            </a:solidFill>
            <a:prstDash val="solid"/>
          </a:ln>
        </p:spPr>
      </p:sp>
      <p:sp>
        <p:nvSpPr>
          <p:cNvPr id="11" name="Shape 9"/>
          <p:cNvSpPr/>
          <p:nvPr/>
        </p:nvSpPr>
        <p:spPr>
          <a:xfrm>
            <a:off x="4937760" y="1463040"/>
            <a:ext cx="73152" cy="1371600"/>
          </a:xfrm>
          <a:prstGeom prst="rect">
            <a:avLst/>
          </a:prstGeom>
          <a:solidFill>
            <a:srgbClr val="1E2761"/>
          </a:solidFill>
          <a:ln w="12700">
            <a:solidFill>
              <a:srgbClr val="1E2761"/>
            </a:solidFill>
            <a:prstDash val="solid"/>
          </a:ln>
        </p:spPr>
      </p:sp>
      <p:sp>
        <p:nvSpPr>
          <p:cNvPr id="12" name="Text 10"/>
          <p:cNvSpPr/>
          <p:nvPr/>
        </p:nvSpPr>
        <p:spPr>
          <a:xfrm>
            <a:off x="5166360" y="1572768"/>
            <a:ext cx="649224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PTE is locked down</a:t>
            </a:r>
            <a:endParaRPr lang="en-US" sz="1600" dirty="0"/>
          </a:p>
        </p:txBody>
      </p:sp>
      <p:sp>
        <p:nvSpPr>
          <p:cNvPr id="13" name="Text 11"/>
          <p:cNvSpPr/>
          <p:nvPr/>
        </p:nvSpPr>
        <p:spPr>
          <a:xfrm>
            <a:off x="5166360" y="1965960"/>
            <a:ext cx="6492240" cy="8229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Exact replica of PROD, refreshed quarterly. Restricted to US-based, GSA-cleared testers (~5% of capacity). Mostly used for NFT/performance.</a:t>
            </a:r>
            <a:endParaRPr lang="en-US" sz="1200" dirty="0"/>
          </a:p>
        </p:txBody>
      </p:sp>
      <p:sp>
        <p:nvSpPr>
          <p:cNvPr id="14" name="Shape 12"/>
          <p:cNvSpPr/>
          <p:nvPr/>
        </p:nvSpPr>
        <p:spPr>
          <a:xfrm>
            <a:off x="4937760" y="2971800"/>
            <a:ext cx="6858000" cy="1371600"/>
          </a:xfrm>
          <a:prstGeom prst="rect">
            <a:avLst/>
          </a:prstGeom>
          <a:solidFill>
            <a:srgbClr val="FFFFFF"/>
          </a:solidFill>
          <a:ln w="9525">
            <a:solidFill>
              <a:srgbClr val="E2E8F0"/>
            </a:solidFill>
            <a:prstDash val="solid"/>
          </a:ln>
        </p:spPr>
      </p:sp>
      <p:sp>
        <p:nvSpPr>
          <p:cNvPr id="15" name="Shape 13"/>
          <p:cNvSpPr/>
          <p:nvPr/>
        </p:nvSpPr>
        <p:spPr>
          <a:xfrm>
            <a:off x="4937760" y="2971800"/>
            <a:ext cx="73152" cy="1371600"/>
          </a:xfrm>
          <a:prstGeom prst="rect">
            <a:avLst/>
          </a:prstGeom>
          <a:solidFill>
            <a:srgbClr val="1E2761"/>
          </a:solidFill>
          <a:ln w="12700">
            <a:solidFill>
              <a:srgbClr val="1E2761"/>
            </a:solidFill>
            <a:prstDash val="solid"/>
          </a:ln>
        </p:spPr>
      </p:sp>
      <p:sp>
        <p:nvSpPr>
          <p:cNvPr id="16" name="Text 14"/>
          <p:cNvSpPr/>
          <p:nvPr/>
        </p:nvSpPr>
        <p:spPr>
          <a:xfrm>
            <a:off x="5166360" y="3081528"/>
            <a:ext cx="649224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UAT can't cover all scenarios</a:t>
            </a:r>
            <a:endParaRPr lang="en-US" sz="1600" dirty="0"/>
          </a:p>
        </p:txBody>
      </p:sp>
      <p:sp>
        <p:nvSpPr>
          <p:cNvPr id="17" name="Text 15"/>
          <p:cNvSpPr/>
          <p:nvPr/>
        </p:nvSpPr>
        <p:spPr>
          <a:xfrm>
            <a:off x="5166360" y="3474720"/>
            <a:ext cx="6492240" cy="8229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Low-volume feeds, missing network association data, partial functional coverage. Concerns raised on testing efficacy vs. PTE/PROD reality.</a:t>
            </a:r>
            <a:endParaRPr lang="en-US" sz="1200" dirty="0"/>
          </a:p>
        </p:txBody>
      </p:sp>
      <p:sp>
        <p:nvSpPr>
          <p:cNvPr id="18" name="Shape 16"/>
          <p:cNvSpPr/>
          <p:nvPr/>
        </p:nvSpPr>
        <p:spPr>
          <a:xfrm>
            <a:off x="4937760" y="4480560"/>
            <a:ext cx="6858000" cy="1371600"/>
          </a:xfrm>
          <a:prstGeom prst="rect">
            <a:avLst/>
          </a:prstGeom>
          <a:solidFill>
            <a:srgbClr val="FFFFFF"/>
          </a:solidFill>
          <a:ln w="9525">
            <a:solidFill>
              <a:srgbClr val="E2E8F0"/>
            </a:solidFill>
            <a:prstDash val="solid"/>
          </a:ln>
        </p:spPr>
      </p:sp>
      <p:sp>
        <p:nvSpPr>
          <p:cNvPr id="19" name="Shape 17"/>
          <p:cNvSpPr/>
          <p:nvPr/>
        </p:nvSpPr>
        <p:spPr>
          <a:xfrm>
            <a:off x="4937760" y="4480560"/>
            <a:ext cx="73152" cy="1371600"/>
          </a:xfrm>
          <a:prstGeom prst="rect">
            <a:avLst/>
          </a:prstGeom>
          <a:solidFill>
            <a:srgbClr val="1E2761"/>
          </a:solidFill>
          <a:ln w="12700">
            <a:solidFill>
              <a:srgbClr val="1E2761"/>
            </a:solidFill>
            <a:prstDash val="solid"/>
          </a:ln>
        </p:spPr>
      </p:sp>
      <p:sp>
        <p:nvSpPr>
          <p:cNvPr id="20" name="Text 18"/>
          <p:cNvSpPr/>
          <p:nvPr/>
        </p:nvSpPr>
        <p:spPr>
          <a:xfrm>
            <a:off x="5166360" y="4590288"/>
            <a:ext cx="649224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Global team is sidelined</a:t>
            </a:r>
            <a:endParaRPr lang="en-US" sz="1600" dirty="0"/>
          </a:p>
        </p:txBody>
      </p:sp>
      <p:sp>
        <p:nvSpPr>
          <p:cNvPr id="21" name="Text 19"/>
          <p:cNvSpPr/>
          <p:nvPr/>
        </p:nvSpPr>
        <p:spPr>
          <a:xfrm>
            <a:off x="5166360" y="4983480"/>
            <a:ext cx="6492240" cy="8229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Testers across Mexico, Chile and India remain blocked from PROD-grade scenarios. Defects slip late or are caught only in PTE/PROD.</a:t>
            </a:r>
            <a:endParaRPr lang="en-US" sz="1200" dirty="0"/>
          </a:p>
        </p:txBody>
      </p:sp>
      <p:sp>
        <p:nvSpPr>
          <p:cNvPr id="22" name="Text 20"/>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Runtime Data Redaction in PTE  |  Commercial Cards QC Strategy</a:t>
            </a:r>
            <a:endParaRPr lang="en-US" sz="900" dirty="0"/>
          </a:p>
        </p:txBody>
      </p:sp>
      <p:sp>
        <p:nvSpPr>
          <p:cNvPr id="23" name="Text 21"/>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92608"/>
            <a:ext cx="11247120" cy="274320"/>
          </a:xfrm>
          <a:prstGeom prst="rect">
            <a:avLst/>
          </a:prstGeom>
          <a:noFill/>
          <a:ln/>
        </p:spPr>
        <p:txBody>
          <a:bodyPr wrap="square" lIns="0" tIns="0" rIns="0" bIns="0" rtlCol="0" anchor="ctr"/>
          <a:lstStyle/>
          <a:p>
            <a:pPr indent="0" marL="0">
              <a:buNone/>
            </a:pPr>
            <a:r>
              <a:rPr lang="en-US" sz="1100" b="1" spc="400" kern="0" dirty="0">
                <a:solidFill>
                  <a:srgbClr val="64748B"/>
                </a:solidFill>
                <a:latin typeface="Calibri" pitchFamily="34" charset="0"/>
                <a:ea typeface="Calibri" pitchFamily="34" charset="-122"/>
                <a:cs typeface="Calibri" pitchFamily="34" charset="-120"/>
              </a:rPr>
              <a:t>CONTEXT</a:t>
            </a:r>
            <a:endParaRPr lang="en-US" sz="1100"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Why we need a short-term bridge</a:t>
            </a:r>
            <a:endParaRPr lang="en-US" sz="2800" dirty="0"/>
          </a:p>
        </p:txBody>
      </p:sp>
      <p:sp>
        <p:nvSpPr>
          <p:cNvPr id="4" name="Text 2"/>
          <p:cNvSpPr/>
          <p:nvPr/>
        </p:nvSpPr>
        <p:spPr>
          <a:xfrm>
            <a:off x="457200" y="1371600"/>
            <a:ext cx="548640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The constraints we're working with</a:t>
            </a:r>
            <a:endParaRPr lang="en-US" sz="1400" dirty="0"/>
          </a:p>
        </p:txBody>
      </p:sp>
      <p:sp>
        <p:nvSpPr>
          <p:cNvPr id="5" name="Shape 3"/>
          <p:cNvSpPr/>
          <p:nvPr/>
        </p:nvSpPr>
        <p:spPr>
          <a:xfrm>
            <a:off x="457200" y="1783080"/>
            <a:ext cx="5486400" cy="1234440"/>
          </a:xfrm>
          <a:prstGeom prst="rect">
            <a:avLst/>
          </a:prstGeom>
          <a:solidFill>
            <a:srgbClr val="FFFFFF"/>
          </a:solidFill>
          <a:ln w="9525">
            <a:solidFill>
              <a:srgbClr val="E2E8F0"/>
            </a:solidFill>
            <a:prstDash val="solid"/>
          </a:ln>
        </p:spPr>
      </p:sp>
      <p:sp>
        <p:nvSpPr>
          <p:cNvPr id="6" name="Shape 4"/>
          <p:cNvSpPr/>
          <p:nvPr/>
        </p:nvSpPr>
        <p:spPr>
          <a:xfrm>
            <a:off x="457200" y="1783080"/>
            <a:ext cx="73152" cy="1234440"/>
          </a:xfrm>
          <a:prstGeom prst="rect">
            <a:avLst/>
          </a:prstGeom>
          <a:solidFill>
            <a:srgbClr val="F59E0B"/>
          </a:solidFill>
          <a:ln w="12700">
            <a:solidFill>
              <a:srgbClr val="F59E0B"/>
            </a:solidFill>
            <a:prstDash val="solid"/>
          </a:ln>
        </p:spPr>
      </p:sp>
      <p:sp>
        <p:nvSpPr>
          <p:cNvPr id="7" name="Text 5"/>
          <p:cNvSpPr/>
          <p:nvPr/>
        </p:nvSpPr>
        <p:spPr>
          <a:xfrm>
            <a:off x="685800" y="1874520"/>
            <a:ext cx="512064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Broadcom TDM in flight</a:t>
            </a:r>
            <a:endParaRPr lang="en-US" sz="1400" dirty="0"/>
          </a:p>
        </p:txBody>
      </p:sp>
      <p:sp>
        <p:nvSpPr>
          <p:cNvPr id="8" name="Text 6"/>
          <p:cNvSpPr/>
          <p:nvPr/>
        </p:nvSpPr>
        <p:spPr>
          <a:xfrm>
            <a:off x="685800" y="2240280"/>
            <a:ext cx="5120640" cy="73152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Mature destination for masked UAT, but volume challenges on our tables mean it's months — not weeks — away.</a:t>
            </a:r>
            <a:endParaRPr lang="en-US" sz="1150" dirty="0"/>
          </a:p>
        </p:txBody>
      </p:sp>
      <p:sp>
        <p:nvSpPr>
          <p:cNvPr id="9" name="Shape 7"/>
          <p:cNvSpPr/>
          <p:nvPr/>
        </p:nvSpPr>
        <p:spPr>
          <a:xfrm>
            <a:off x="457200" y="3154680"/>
            <a:ext cx="5486400" cy="1234440"/>
          </a:xfrm>
          <a:prstGeom prst="rect">
            <a:avLst/>
          </a:prstGeom>
          <a:solidFill>
            <a:srgbClr val="FFFFFF"/>
          </a:solidFill>
          <a:ln w="9525">
            <a:solidFill>
              <a:srgbClr val="E2E8F0"/>
            </a:solidFill>
            <a:prstDash val="solid"/>
          </a:ln>
        </p:spPr>
      </p:sp>
      <p:sp>
        <p:nvSpPr>
          <p:cNvPr id="10" name="Shape 8"/>
          <p:cNvSpPr/>
          <p:nvPr/>
        </p:nvSpPr>
        <p:spPr>
          <a:xfrm>
            <a:off x="457200" y="3154680"/>
            <a:ext cx="73152" cy="1234440"/>
          </a:xfrm>
          <a:prstGeom prst="rect">
            <a:avLst/>
          </a:prstGeom>
          <a:solidFill>
            <a:srgbClr val="F59E0B"/>
          </a:solidFill>
          <a:ln w="12700">
            <a:solidFill>
              <a:srgbClr val="F59E0B"/>
            </a:solidFill>
            <a:prstDash val="solid"/>
          </a:ln>
        </p:spPr>
      </p:sp>
      <p:sp>
        <p:nvSpPr>
          <p:cNvPr id="11" name="Text 9"/>
          <p:cNvSpPr/>
          <p:nvPr/>
        </p:nvSpPr>
        <p:spPr>
          <a:xfrm>
            <a:off x="685800" y="3246120"/>
            <a:ext cx="512064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No file-level masking yet</a:t>
            </a:r>
            <a:endParaRPr lang="en-US" sz="1400" dirty="0"/>
          </a:p>
        </p:txBody>
      </p:sp>
      <p:sp>
        <p:nvSpPr>
          <p:cNvPr id="12" name="Text 10"/>
          <p:cNvSpPr/>
          <p:nvPr/>
        </p:nvSpPr>
        <p:spPr>
          <a:xfrm>
            <a:off x="685800" y="3611880"/>
            <a:ext cx="5120640" cy="73152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Even a one-time DB scrub doesn't help: large daily file feeds keep arriving raw. Any masked env needs ongoing masked loads.</a:t>
            </a:r>
            <a:endParaRPr lang="en-US" sz="1150" dirty="0"/>
          </a:p>
        </p:txBody>
      </p:sp>
      <p:sp>
        <p:nvSpPr>
          <p:cNvPr id="13" name="Shape 11"/>
          <p:cNvSpPr/>
          <p:nvPr/>
        </p:nvSpPr>
        <p:spPr>
          <a:xfrm>
            <a:off x="457200" y="4526280"/>
            <a:ext cx="5486400" cy="1234440"/>
          </a:xfrm>
          <a:prstGeom prst="rect">
            <a:avLst/>
          </a:prstGeom>
          <a:solidFill>
            <a:srgbClr val="FFFFFF"/>
          </a:solidFill>
          <a:ln w="9525">
            <a:solidFill>
              <a:srgbClr val="E2E8F0"/>
            </a:solidFill>
            <a:prstDash val="solid"/>
          </a:ln>
        </p:spPr>
      </p:sp>
      <p:sp>
        <p:nvSpPr>
          <p:cNvPr id="14" name="Shape 12"/>
          <p:cNvSpPr/>
          <p:nvPr/>
        </p:nvSpPr>
        <p:spPr>
          <a:xfrm>
            <a:off x="457200" y="4526280"/>
            <a:ext cx="73152" cy="1234440"/>
          </a:xfrm>
          <a:prstGeom prst="rect">
            <a:avLst/>
          </a:prstGeom>
          <a:solidFill>
            <a:srgbClr val="F59E0B"/>
          </a:solidFill>
          <a:ln w="12700">
            <a:solidFill>
              <a:srgbClr val="F59E0B"/>
            </a:solidFill>
            <a:prstDash val="solid"/>
          </a:ln>
        </p:spPr>
      </p:sp>
      <p:sp>
        <p:nvSpPr>
          <p:cNvPr id="15" name="Text 13"/>
          <p:cNvSpPr/>
          <p:nvPr/>
        </p:nvSpPr>
        <p:spPr>
          <a:xfrm>
            <a:off x="685800" y="4617720"/>
            <a:ext cx="512064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Standing up another env is costly</a:t>
            </a:r>
            <a:endParaRPr lang="en-US" sz="1400" dirty="0"/>
          </a:p>
        </p:txBody>
      </p:sp>
      <p:sp>
        <p:nvSpPr>
          <p:cNvPr id="16" name="Text 14"/>
          <p:cNvSpPr/>
          <p:nvPr/>
        </p:nvSpPr>
        <p:spPr>
          <a:xfrm>
            <a:off x="685800" y="4983480"/>
            <a:ext cx="5120640" cy="73152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Building &amp; maintaining a second PROD-grade env in parallel = duplicate ops, storage, refreshes, and team load.</a:t>
            </a:r>
            <a:endParaRPr lang="en-US" sz="1150" dirty="0"/>
          </a:p>
        </p:txBody>
      </p:sp>
      <p:sp>
        <p:nvSpPr>
          <p:cNvPr id="17" name="Shape 15"/>
          <p:cNvSpPr/>
          <p:nvPr/>
        </p:nvSpPr>
        <p:spPr>
          <a:xfrm>
            <a:off x="6400800" y="1371600"/>
            <a:ext cx="5394960" cy="4572000"/>
          </a:xfrm>
          <a:prstGeom prst="rect">
            <a:avLst/>
          </a:prstGeom>
          <a:solidFill>
            <a:srgbClr val="1E2761"/>
          </a:solidFill>
          <a:ln w="12700">
            <a:solidFill>
              <a:srgbClr val="1E2761"/>
            </a:solidFill>
            <a:prstDash val="solid"/>
          </a:ln>
        </p:spPr>
      </p:sp>
      <p:pic>
        <p:nvPicPr>
          <p:cNvPr id="18" name="Image 0" descr="preencoded.png">    </p:cNvPr>
          <p:cNvPicPr>
            <a:picLocks noChangeAspect="1"/>
          </p:cNvPicPr>
          <p:nvPr/>
        </p:nvPicPr>
        <p:blipFill>
          <a:blip r:embed="rId1"/>
          <a:stretch>
            <a:fillRect/>
          </a:stretch>
        </p:blipFill>
        <p:spPr>
          <a:xfrm>
            <a:off x="6629400" y="1554480"/>
            <a:ext cx="457200" cy="457200"/>
          </a:xfrm>
          <a:prstGeom prst="rect">
            <a:avLst/>
          </a:prstGeom>
        </p:spPr>
      </p:pic>
      <p:sp>
        <p:nvSpPr>
          <p:cNvPr id="19" name="Text 16"/>
          <p:cNvSpPr/>
          <p:nvPr/>
        </p:nvSpPr>
        <p:spPr>
          <a:xfrm>
            <a:off x="7178040" y="1627632"/>
            <a:ext cx="4572000" cy="320040"/>
          </a:xfrm>
          <a:prstGeom prst="rect">
            <a:avLst/>
          </a:prstGeom>
          <a:noFill/>
          <a:ln/>
        </p:spPr>
        <p:txBody>
          <a:bodyPr wrap="square" lIns="0" tIns="0" rIns="0" bIns="0" rtlCol="0" anchor="ctr"/>
          <a:lstStyle/>
          <a:p>
            <a:pPr indent="0" marL="0">
              <a:buNone/>
            </a:pPr>
            <a:r>
              <a:rPr lang="en-US" sz="1100" b="1" spc="400" kern="0" dirty="0">
                <a:solidFill>
                  <a:srgbClr val="CADCFC"/>
                </a:solidFill>
                <a:latin typeface="Calibri" pitchFamily="34" charset="0"/>
                <a:ea typeface="Calibri" pitchFamily="34" charset="-122"/>
                <a:cs typeface="Calibri" pitchFamily="34" charset="-120"/>
              </a:rPr>
              <a:t>OUR TACTICAL GOAL</a:t>
            </a:r>
            <a:endParaRPr lang="en-US" sz="1100" dirty="0"/>
          </a:p>
        </p:txBody>
      </p:sp>
      <p:sp>
        <p:nvSpPr>
          <p:cNvPr id="20" name="Text 17"/>
          <p:cNvSpPr/>
          <p:nvPr/>
        </p:nvSpPr>
        <p:spPr>
          <a:xfrm>
            <a:off x="6629400" y="2194560"/>
            <a:ext cx="5029200" cy="109728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Use PTE itself — apply runtime masking</a:t>
            </a:r>
            <a:endParaRPr lang="en-US" sz="2200" dirty="0"/>
          </a:p>
        </p:txBody>
      </p:sp>
      <p:sp>
        <p:nvSpPr>
          <p:cNvPr id="21" name="Text 18"/>
          <p:cNvSpPr/>
          <p:nvPr/>
        </p:nvSpPr>
        <p:spPr>
          <a:xfrm>
            <a:off x="6629400" y="3383280"/>
            <a:ext cx="5029200" cy="137160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Leverage the PROD-quality data we already maintain in PTE. Add a runtime control layer so unauthorized testers see masked values for sensitive columns, while cleared testers see raw.</a:t>
            </a:r>
            <a:endParaRPr lang="en-US" sz="1300" dirty="0"/>
          </a:p>
        </p:txBody>
      </p:sp>
      <p:sp>
        <p:nvSpPr>
          <p:cNvPr id="22" name="Shape 19"/>
          <p:cNvSpPr/>
          <p:nvPr/>
        </p:nvSpPr>
        <p:spPr>
          <a:xfrm>
            <a:off x="6629400" y="4846320"/>
            <a:ext cx="1371600" cy="0"/>
          </a:xfrm>
          <a:prstGeom prst="line">
            <a:avLst/>
          </a:prstGeom>
          <a:noFill/>
          <a:ln w="25400">
            <a:solidFill>
              <a:srgbClr val="CADCFC"/>
            </a:solidFill>
            <a:prstDash val="solid"/>
          </a:ln>
        </p:spPr>
      </p:sp>
      <p:sp>
        <p:nvSpPr>
          <p:cNvPr id="23" name="Text 20"/>
          <p:cNvSpPr/>
          <p:nvPr/>
        </p:nvSpPr>
        <p:spPr>
          <a:xfrm>
            <a:off x="6629400" y="4983480"/>
            <a:ext cx="5029200" cy="365760"/>
          </a:xfrm>
          <a:prstGeom prst="rect">
            <a:avLst/>
          </a:prstGeom>
          <a:noFill/>
          <a:ln/>
        </p:spPr>
        <p:txBody>
          <a:bodyPr wrap="square" lIns="0" tIns="0" rIns="0" bIns="0" rtlCol="0" anchor="ctr"/>
          <a:lstStyle/>
          <a:p>
            <a:pPr indent="0" marL="0">
              <a:buNone/>
            </a:pPr>
            <a:r>
              <a:rPr lang="en-US" sz="1200" b="1" i="1" dirty="0">
                <a:solidFill>
                  <a:srgbClr val="FFFFFF"/>
                </a:solidFill>
                <a:latin typeface="Calibri" pitchFamily="34" charset="0"/>
                <a:ea typeface="Calibri" pitchFamily="34" charset="-122"/>
                <a:cs typeface="Calibri" pitchFamily="34" charset="-120"/>
              </a:rPr>
              <a:t>Bridge to Broadcom TDM — not a replacement</a:t>
            </a:r>
            <a:endParaRPr lang="en-US" sz="1200" dirty="0"/>
          </a:p>
        </p:txBody>
      </p:sp>
      <p:sp>
        <p:nvSpPr>
          <p:cNvPr id="24" name="Text 21"/>
          <p:cNvSpPr/>
          <p:nvPr/>
        </p:nvSpPr>
        <p:spPr>
          <a:xfrm>
            <a:off x="6629400" y="5349240"/>
            <a:ext cx="5029200" cy="54864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Short-term unlock of global testing capacity while the proper masked UAT is built.</a:t>
            </a:r>
            <a:endParaRPr lang="en-US" sz="1100" dirty="0"/>
          </a:p>
        </p:txBody>
      </p:sp>
      <p:sp>
        <p:nvSpPr>
          <p:cNvPr id="25" name="Text 22"/>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Runtime Data Redaction in PTE  |  Commercial Cards QC Strategy</a:t>
            </a:r>
            <a:endParaRPr lang="en-US" sz="900" dirty="0"/>
          </a:p>
        </p:txBody>
      </p:sp>
      <p:sp>
        <p:nvSpPr>
          <p:cNvPr id="26" name="Text 23"/>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92608"/>
            <a:ext cx="11247120" cy="274320"/>
          </a:xfrm>
          <a:prstGeom prst="rect">
            <a:avLst/>
          </a:prstGeom>
          <a:noFill/>
          <a:ln/>
        </p:spPr>
        <p:txBody>
          <a:bodyPr wrap="square" lIns="0" tIns="0" rIns="0" bIns="0" rtlCol="0" anchor="ctr"/>
          <a:lstStyle/>
          <a:p>
            <a:pPr indent="0" marL="0">
              <a:buNone/>
            </a:pPr>
            <a:r>
              <a:rPr lang="en-US" sz="1100" b="1" spc="400" kern="0" dirty="0">
                <a:solidFill>
                  <a:srgbClr val="64748B"/>
                </a:solidFill>
                <a:latin typeface="Calibri" pitchFamily="34" charset="0"/>
                <a:ea typeface="Calibri" pitchFamily="34" charset="-122"/>
                <a:cs typeface="Calibri" pitchFamily="34" charset="-120"/>
              </a:rPr>
              <a:t>PROPOSED APPROACH</a:t>
            </a:r>
            <a:endParaRPr lang="en-US" sz="1100"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Mask sensitive data at query time, not at rest</a:t>
            </a:r>
            <a:endParaRPr lang="en-US" sz="2800" dirty="0"/>
          </a:p>
        </p:txBody>
      </p:sp>
      <p:sp>
        <p:nvSpPr>
          <p:cNvPr id="4" name="Shape 2"/>
          <p:cNvSpPr/>
          <p:nvPr/>
        </p:nvSpPr>
        <p:spPr>
          <a:xfrm>
            <a:off x="457200" y="1463040"/>
            <a:ext cx="2697480" cy="1417320"/>
          </a:xfrm>
          <a:prstGeom prst="rect">
            <a:avLst/>
          </a:prstGeom>
          <a:solidFill>
            <a:srgbClr val="FFFFFF"/>
          </a:solidFill>
          <a:ln w="9525">
            <a:solidFill>
              <a:srgbClr val="E2E8F0"/>
            </a:solidFill>
            <a:prstDash val="solid"/>
          </a:ln>
        </p:spPr>
      </p:sp>
      <p:sp>
        <p:nvSpPr>
          <p:cNvPr id="5" name="Shape 3"/>
          <p:cNvSpPr/>
          <p:nvPr/>
        </p:nvSpPr>
        <p:spPr>
          <a:xfrm>
            <a:off x="685800" y="1691640"/>
            <a:ext cx="457200" cy="457200"/>
          </a:xfrm>
          <a:prstGeom prst="ellipse">
            <a:avLst/>
          </a:prstGeom>
          <a:solidFill>
            <a:srgbClr val="1E2761"/>
          </a:solidFill>
          <a:ln w="12700">
            <a:solidFill>
              <a:srgbClr val="1E2761"/>
            </a:solidFill>
            <a:prstDash val="solid"/>
          </a:ln>
        </p:spPr>
      </p:sp>
      <p:sp>
        <p:nvSpPr>
          <p:cNvPr id="6" name="Text 4"/>
          <p:cNvSpPr/>
          <p:nvPr/>
        </p:nvSpPr>
        <p:spPr>
          <a:xfrm>
            <a:off x="685800" y="17099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7" name="Text 5"/>
          <p:cNvSpPr/>
          <p:nvPr/>
        </p:nvSpPr>
        <p:spPr>
          <a:xfrm>
            <a:off x="1234440" y="1755648"/>
            <a:ext cx="178308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Same row in PTE</a:t>
            </a:r>
            <a:endParaRPr lang="en-US" sz="1300" dirty="0"/>
          </a:p>
        </p:txBody>
      </p:sp>
      <p:sp>
        <p:nvSpPr>
          <p:cNvPr id="8" name="Text 6"/>
          <p:cNvSpPr/>
          <p:nvPr/>
        </p:nvSpPr>
        <p:spPr>
          <a:xfrm>
            <a:off x="640080" y="2240280"/>
            <a:ext cx="2331720" cy="59436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Underlying data unchanged. No second copy, no second env.</a:t>
            </a:r>
            <a:endParaRPr lang="en-US" sz="1050" dirty="0"/>
          </a:p>
        </p:txBody>
      </p:sp>
      <p:sp>
        <p:nvSpPr>
          <p:cNvPr id="9" name="Shape 7"/>
          <p:cNvSpPr/>
          <p:nvPr/>
        </p:nvSpPr>
        <p:spPr>
          <a:xfrm>
            <a:off x="3291840" y="1463040"/>
            <a:ext cx="2697480" cy="1417320"/>
          </a:xfrm>
          <a:prstGeom prst="rect">
            <a:avLst/>
          </a:prstGeom>
          <a:solidFill>
            <a:srgbClr val="FFFFFF"/>
          </a:solidFill>
          <a:ln w="9525">
            <a:solidFill>
              <a:srgbClr val="E2E8F0"/>
            </a:solidFill>
            <a:prstDash val="solid"/>
          </a:ln>
        </p:spPr>
      </p:sp>
      <p:sp>
        <p:nvSpPr>
          <p:cNvPr id="10" name="Shape 8"/>
          <p:cNvSpPr/>
          <p:nvPr/>
        </p:nvSpPr>
        <p:spPr>
          <a:xfrm>
            <a:off x="3520440" y="1691640"/>
            <a:ext cx="457200" cy="457200"/>
          </a:xfrm>
          <a:prstGeom prst="ellipse">
            <a:avLst/>
          </a:prstGeom>
          <a:solidFill>
            <a:srgbClr val="1E2761"/>
          </a:solidFill>
          <a:ln w="12700">
            <a:solidFill>
              <a:srgbClr val="1E2761"/>
            </a:solidFill>
            <a:prstDash val="solid"/>
          </a:ln>
        </p:spPr>
      </p:sp>
      <p:sp>
        <p:nvSpPr>
          <p:cNvPr id="11" name="Text 9"/>
          <p:cNvSpPr/>
          <p:nvPr/>
        </p:nvSpPr>
        <p:spPr>
          <a:xfrm>
            <a:off x="3520440" y="17099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2" name="Text 10"/>
          <p:cNvSpPr/>
          <p:nvPr/>
        </p:nvSpPr>
        <p:spPr>
          <a:xfrm>
            <a:off x="4069080" y="1755648"/>
            <a:ext cx="178308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Caller's session context</a:t>
            </a:r>
            <a:endParaRPr lang="en-US" sz="1300" dirty="0"/>
          </a:p>
        </p:txBody>
      </p:sp>
      <p:sp>
        <p:nvSpPr>
          <p:cNvPr id="13" name="Text 11"/>
          <p:cNvSpPr/>
          <p:nvPr/>
        </p:nvSpPr>
        <p:spPr>
          <a:xfrm>
            <a:off x="3474720" y="2240280"/>
            <a:ext cx="2331720" cy="59436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DB user, OS user, source IP, proxy — read by a logon trigger.</a:t>
            </a:r>
            <a:endParaRPr lang="en-US" sz="1050" dirty="0"/>
          </a:p>
        </p:txBody>
      </p:sp>
      <p:sp>
        <p:nvSpPr>
          <p:cNvPr id="14" name="Shape 12"/>
          <p:cNvSpPr/>
          <p:nvPr/>
        </p:nvSpPr>
        <p:spPr>
          <a:xfrm>
            <a:off x="6126480" y="1463040"/>
            <a:ext cx="2697480" cy="1417320"/>
          </a:xfrm>
          <a:prstGeom prst="rect">
            <a:avLst/>
          </a:prstGeom>
          <a:solidFill>
            <a:srgbClr val="FFFFFF"/>
          </a:solidFill>
          <a:ln w="9525">
            <a:solidFill>
              <a:srgbClr val="E2E8F0"/>
            </a:solidFill>
            <a:prstDash val="solid"/>
          </a:ln>
        </p:spPr>
      </p:sp>
      <p:sp>
        <p:nvSpPr>
          <p:cNvPr id="15" name="Shape 13"/>
          <p:cNvSpPr/>
          <p:nvPr/>
        </p:nvSpPr>
        <p:spPr>
          <a:xfrm>
            <a:off x="6355080" y="1691640"/>
            <a:ext cx="457200" cy="457200"/>
          </a:xfrm>
          <a:prstGeom prst="ellipse">
            <a:avLst/>
          </a:prstGeom>
          <a:solidFill>
            <a:srgbClr val="1E2761"/>
          </a:solidFill>
          <a:ln w="12700">
            <a:solidFill>
              <a:srgbClr val="1E2761"/>
            </a:solidFill>
            <a:prstDash val="solid"/>
          </a:ln>
        </p:spPr>
      </p:sp>
      <p:sp>
        <p:nvSpPr>
          <p:cNvPr id="16" name="Text 14"/>
          <p:cNvSpPr/>
          <p:nvPr/>
        </p:nvSpPr>
        <p:spPr>
          <a:xfrm>
            <a:off x="6355080" y="17099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7" name="Text 15"/>
          <p:cNvSpPr/>
          <p:nvPr/>
        </p:nvSpPr>
        <p:spPr>
          <a:xfrm>
            <a:off x="6903720" y="1755648"/>
            <a:ext cx="178308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Per-tier policy</a:t>
            </a:r>
            <a:endParaRPr lang="en-US" sz="1300" dirty="0"/>
          </a:p>
        </p:txBody>
      </p:sp>
      <p:sp>
        <p:nvSpPr>
          <p:cNvPr id="18" name="Text 16"/>
          <p:cNvSpPr/>
          <p:nvPr/>
        </p:nvSpPr>
        <p:spPr>
          <a:xfrm>
            <a:off x="6309360" y="2240280"/>
            <a:ext cx="2331720" cy="59436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Tier resolves to no / partial / full / nullify redaction.</a:t>
            </a:r>
            <a:endParaRPr lang="en-US" sz="1050" dirty="0"/>
          </a:p>
        </p:txBody>
      </p:sp>
      <p:sp>
        <p:nvSpPr>
          <p:cNvPr id="19" name="Shape 17"/>
          <p:cNvSpPr/>
          <p:nvPr/>
        </p:nvSpPr>
        <p:spPr>
          <a:xfrm>
            <a:off x="8961120" y="1463040"/>
            <a:ext cx="2697480" cy="1417320"/>
          </a:xfrm>
          <a:prstGeom prst="rect">
            <a:avLst/>
          </a:prstGeom>
          <a:solidFill>
            <a:srgbClr val="FFFFFF"/>
          </a:solidFill>
          <a:ln w="9525">
            <a:solidFill>
              <a:srgbClr val="E2E8F0"/>
            </a:solidFill>
            <a:prstDash val="solid"/>
          </a:ln>
        </p:spPr>
      </p:sp>
      <p:sp>
        <p:nvSpPr>
          <p:cNvPr id="20" name="Shape 18"/>
          <p:cNvSpPr/>
          <p:nvPr/>
        </p:nvSpPr>
        <p:spPr>
          <a:xfrm>
            <a:off x="9189720" y="1691640"/>
            <a:ext cx="457200" cy="457200"/>
          </a:xfrm>
          <a:prstGeom prst="ellipse">
            <a:avLst/>
          </a:prstGeom>
          <a:solidFill>
            <a:srgbClr val="1E2761"/>
          </a:solidFill>
          <a:ln w="12700">
            <a:solidFill>
              <a:srgbClr val="1E2761"/>
            </a:solidFill>
            <a:prstDash val="solid"/>
          </a:ln>
        </p:spPr>
      </p:sp>
      <p:sp>
        <p:nvSpPr>
          <p:cNvPr id="21" name="Text 19"/>
          <p:cNvSpPr/>
          <p:nvPr/>
        </p:nvSpPr>
        <p:spPr>
          <a:xfrm>
            <a:off x="9189720" y="17099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2" name="Text 20"/>
          <p:cNvSpPr/>
          <p:nvPr/>
        </p:nvSpPr>
        <p:spPr>
          <a:xfrm>
            <a:off x="9738360" y="1755648"/>
            <a:ext cx="178308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What the tester sees</a:t>
            </a:r>
            <a:endParaRPr lang="en-US" sz="1300" dirty="0"/>
          </a:p>
        </p:txBody>
      </p:sp>
      <p:sp>
        <p:nvSpPr>
          <p:cNvPr id="23" name="Text 21"/>
          <p:cNvSpPr/>
          <p:nvPr/>
        </p:nvSpPr>
        <p:spPr>
          <a:xfrm>
            <a:off x="9144000" y="2240280"/>
            <a:ext cx="2331720" cy="59436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Cleared US: raw.  Global: 6+4 PAN, masked PII.  Read-only: heavy.</a:t>
            </a:r>
            <a:endParaRPr lang="en-US" sz="1050" dirty="0"/>
          </a:p>
        </p:txBody>
      </p:sp>
      <p:pic>
        <p:nvPicPr>
          <p:cNvPr id="24" name="Image 0" descr="preencoded.png">    </p:cNvPr>
          <p:cNvPicPr>
            <a:picLocks noChangeAspect="1"/>
          </p:cNvPicPr>
          <p:nvPr/>
        </p:nvPicPr>
        <p:blipFill>
          <a:blip r:embed="rId1"/>
          <a:stretch>
            <a:fillRect/>
          </a:stretch>
        </p:blipFill>
        <p:spPr>
          <a:xfrm>
            <a:off x="3136392" y="2080260"/>
            <a:ext cx="182880" cy="182880"/>
          </a:xfrm>
          <a:prstGeom prst="rect">
            <a:avLst/>
          </a:prstGeom>
        </p:spPr>
      </p:pic>
      <p:pic>
        <p:nvPicPr>
          <p:cNvPr id="25" name="Image 1" descr="preencoded.png">    </p:cNvPr>
          <p:cNvPicPr>
            <a:picLocks noChangeAspect="1"/>
          </p:cNvPicPr>
          <p:nvPr/>
        </p:nvPicPr>
        <p:blipFill>
          <a:blip r:embed="rId2"/>
          <a:stretch>
            <a:fillRect/>
          </a:stretch>
        </p:blipFill>
        <p:spPr>
          <a:xfrm>
            <a:off x="5971032" y="2080260"/>
            <a:ext cx="182880" cy="182880"/>
          </a:xfrm>
          <a:prstGeom prst="rect">
            <a:avLst/>
          </a:prstGeom>
        </p:spPr>
      </p:pic>
      <p:pic>
        <p:nvPicPr>
          <p:cNvPr id="26" name="Image 2" descr="preencoded.png">    </p:cNvPr>
          <p:cNvPicPr>
            <a:picLocks noChangeAspect="1"/>
          </p:cNvPicPr>
          <p:nvPr/>
        </p:nvPicPr>
        <p:blipFill>
          <a:blip r:embed="rId3"/>
          <a:stretch>
            <a:fillRect/>
          </a:stretch>
        </p:blipFill>
        <p:spPr>
          <a:xfrm>
            <a:off x="8805672" y="2080260"/>
            <a:ext cx="182880" cy="182880"/>
          </a:xfrm>
          <a:prstGeom prst="rect">
            <a:avLst/>
          </a:prstGeom>
        </p:spPr>
      </p:pic>
      <p:sp>
        <p:nvSpPr>
          <p:cNvPr id="27" name="Shape 22"/>
          <p:cNvSpPr/>
          <p:nvPr/>
        </p:nvSpPr>
        <p:spPr>
          <a:xfrm>
            <a:off x="457200" y="3200400"/>
            <a:ext cx="11338560" cy="1280160"/>
          </a:xfrm>
          <a:prstGeom prst="rect">
            <a:avLst/>
          </a:prstGeom>
          <a:solidFill>
            <a:srgbClr val="CADCFC"/>
          </a:solidFill>
          <a:ln w="12700">
            <a:solidFill>
              <a:srgbClr val="CADCFC"/>
            </a:solidFill>
            <a:prstDash val="solid"/>
          </a:ln>
        </p:spPr>
      </p:sp>
      <p:pic>
        <p:nvPicPr>
          <p:cNvPr id="28" name="Image 3" descr="preencoded.png">    </p:cNvPr>
          <p:cNvPicPr>
            <a:picLocks noChangeAspect="1"/>
          </p:cNvPicPr>
          <p:nvPr/>
        </p:nvPicPr>
        <p:blipFill>
          <a:blip r:embed="rId4"/>
          <a:stretch>
            <a:fillRect/>
          </a:stretch>
        </p:blipFill>
        <p:spPr>
          <a:xfrm>
            <a:off x="777240" y="3520440"/>
            <a:ext cx="640080" cy="640080"/>
          </a:xfrm>
          <a:prstGeom prst="rect">
            <a:avLst/>
          </a:prstGeom>
        </p:spPr>
      </p:pic>
      <p:sp>
        <p:nvSpPr>
          <p:cNvPr id="29" name="Text 23"/>
          <p:cNvSpPr/>
          <p:nvPr/>
        </p:nvSpPr>
        <p:spPr>
          <a:xfrm>
            <a:off x="1600200" y="3383280"/>
            <a:ext cx="10058400" cy="411480"/>
          </a:xfrm>
          <a:prstGeom prst="rect">
            <a:avLst/>
          </a:prstGeom>
          <a:noFill/>
          <a:ln/>
        </p:spPr>
        <p:txBody>
          <a:bodyPr wrap="square" lIns="0" tIns="0" rIns="0" bIns="0"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Oracle Data Redaction (Advanced Security option)</a:t>
            </a:r>
            <a:endParaRPr lang="en-US" sz="1800" dirty="0"/>
          </a:p>
        </p:txBody>
      </p:sp>
      <p:sp>
        <p:nvSpPr>
          <p:cNvPr id="30" name="Text 24"/>
          <p:cNvSpPr/>
          <p:nvPr/>
        </p:nvSpPr>
        <p:spPr>
          <a:xfrm>
            <a:off x="1600200" y="3794760"/>
            <a:ext cx="10058400" cy="64008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 purpose-built Oracle feature. Policies attach to columns; a policy expression decides per-session whether to mask. Indexes still work, the optimizer still sees real values — redaction happens just before results are returned to the client.</a:t>
            </a:r>
            <a:endParaRPr lang="en-US" sz="1200" dirty="0"/>
          </a:p>
        </p:txBody>
      </p:sp>
      <p:sp>
        <p:nvSpPr>
          <p:cNvPr id="31" name="Shape 25"/>
          <p:cNvSpPr/>
          <p:nvPr/>
        </p:nvSpPr>
        <p:spPr>
          <a:xfrm>
            <a:off x="457200" y="4709160"/>
            <a:ext cx="2743200" cy="1097280"/>
          </a:xfrm>
          <a:prstGeom prst="rect">
            <a:avLst/>
          </a:prstGeom>
          <a:solidFill>
            <a:srgbClr val="FFFFFF"/>
          </a:solidFill>
          <a:ln w="9525">
            <a:solidFill>
              <a:srgbClr val="E2E8F0"/>
            </a:solidFill>
            <a:prstDash val="solid"/>
          </a:ln>
        </p:spPr>
      </p:sp>
      <p:sp>
        <p:nvSpPr>
          <p:cNvPr id="32" name="Shape 26"/>
          <p:cNvSpPr/>
          <p:nvPr/>
        </p:nvSpPr>
        <p:spPr>
          <a:xfrm>
            <a:off x="457200" y="4709160"/>
            <a:ext cx="73152" cy="1097280"/>
          </a:xfrm>
          <a:prstGeom prst="rect">
            <a:avLst/>
          </a:prstGeom>
          <a:solidFill>
            <a:srgbClr val="10B981"/>
          </a:solidFill>
          <a:ln w="12700">
            <a:solidFill>
              <a:srgbClr val="10B981"/>
            </a:solidFill>
            <a:prstDash val="solid"/>
          </a:ln>
        </p:spPr>
      </p:sp>
      <p:sp>
        <p:nvSpPr>
          <p:cNvPr id="33" name="Text 27"/>
          <p:cNvSpPr/>
          <p:nvPr/>
        </p:nvSpPr>
        <p:spPr>
          <a:xfrm>
            <a:off x="640080" y="4818888"/>
            <a:ext cx="2468880" cy="34747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No new environment</a:t>
            </a:r>
            <a:endParaRPr lang="en-US" sz="1300" dirty="0"/>
          </a:p>
        </p:txBody>
      </p:sp>
      <p:sp>
        <p:nvSpPr>
          <p:cNvPr id="34" name="Text 28"/>
          <p:cNvSpPr/>
          <p:nvPr/>
        </p:nvSpPr>
        <p:spPr>
          <a:xfrm>
            <a:off x="640080" y="5166360"/>
            <a:ext cx="2468880" cy="5486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Reuse the PTE we already refresh from PROD.</a:t>
            </a:r>
            <a:endParaRPr lang="en-US" sz="1100" dirty="0"/>
          </a:p>
        </p:txBody>
      </p:sp>
      <p:sp>
        <p:nvSpPr>
          <p:cNvPr id="35" name="Shape 29"/>
          <p:cNvSpPr/>
          <p:nvPr/>
        </p:nvSpPr>
        <p:spPr>
          <a:xfrm>
            <a:off x="3291840" y="4709160"/>
            <a:ext cx="2743200" cy="1097280"/>
          </a:xfrm>
          <a:prstGeom prst="rect">
            <a:avLst/>
          </a:prstGeom>
          <a:solidFill>
            <a:srgbClr val="FFFFFF"/>
          </a:solidFill>
          <a:ln w="9525">
            <a:solidFill>
              <a:srgbClr val="E2E8F0"/>
            </a:solidFill>
            <a:prstDash val="solid"/>
          </a:ln>
        </p:spPr>
      </p:sp>
      <p:sp>
        <p:nvSpPr>
          <p:cNvPr id="36" name="Shape 30"/>
          <p:cNvSpPr/>
          <p:nvPr/>
        </p:nvSpPr>
        <p:spPr>
          <a:xfrm>
            <a:off x="3291840" y="4709160"/>
            <a:ext cx="73152" cy="1097280"/>
          </a:xfrm>
          <a:prstGeom prst="rect">
            <a:avLst/>
          </a:prstGeom>
          <a:solidFill>
            <a:srgbClr val="10B981"/>
          </a:solidFill>
          <a:ln w="12700">
            <a:solidFill>
              <a:srgbClr val="10B981"/>
            </a:solidFill>
            <a:prstDash val="solid"/>
          </a:ln>
        </p:spPr>
      </p:sp>
      <p:sp>
        <p:nvSpPr>
          <p:cNvPr id="37" name="Text 31"/>
          <p:cNvSpPr/>
          <p:nvPr/>
        </p:nvSpPr>
        <p:spPr>
          <a:xfrm>
            <a:off x="3474720" y="4818888"/>
            <a:ext cx="2468880" cy="34747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Per-user behaviour</a:t>
            </a:r>
            <a:endParaRPr lang="en-US" sz="1300" dirty="0"/>
          </a:p>
        </p:txBody>
      </p:sp>
      <p:sp>
        <p:nvSpPr>
          <p:cNvPr id="38" name="Text 32"/>
          <p:cNvSpPr/>
          <p:nvPr/>
        </p:nvSpPr>
        <p:spPr>
          <a:xfrm>
            <a:off x="3474720" y="5166360"/>
            <a:ext cx="2468880" cy="5486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Different testers, same row, different views.</a:t>
            </a:r>
            <a:endParaRPr lang="en-US" sz="1100" dirty="0"/>
          </a:p>
        </p:txBody>
      </p:sp>
      <p:sp>
        <p:nvSpPr>
          <p:cNvPr id="39" name="Shape 33"/>
          <p:cNvSpPr/>
          <p:nvPr/>
        </p:nvSpPr>
        <p:spPr>
          <a:xfrm>
            <a:off x="6126480" y="4709160"/>
            <a:ext cx="2743200" cy="1097280"/>
          </a:xfrm>
          <a:prstGeom prst="rect">
            <a:avLst/>
          </a:prstGeom>
          <a:solidFill>
            <a:srgbClr val="FFFFFF"/>
          </a:solidFill>
          <a:ln w="9525">
            <a:solidFill>
              <a:srgbClr val="E2E8F0"/>
            </a:solidFill>
            <a:prstDash val="solid"/>
          </a:ln>
        </p:spPr>
      </p:sp>
      <p:sp>
        <p:nvSpPr>
          <p:cNvPr id="40" name="Shape 34"/>
          <p:cNvSpPr/>
          <p:nvPr/>
        </p:nvSpPr>
        <p:spPr>
          <a:xfrm>
            <a:off x="6126480" y="4709160"/>
            <a:ext cx="73152" cy="1097280"/>
          </a:xfrm>
          <a:prstGeom prst="rect">
            <a:avLst/>
          </a:prstGeom>
          <a:solidFill>
            <a:srgbClr val="10B981"/>
          </a:solidFill>
          <a:ln w="12700">
            <a:solidFill>
              <a:srgbClr val="10B981"/>
            </a:solidFill>
            <a:prstDash val="solid"/>
          </a:ln>
        </p:spPr>
      </p:sp>
      <p:sp>
        <p:nvSpPr>
          <p:cNvPr id="41" name="Text 35"/>
          <p:cNvSpPr/>
          <p:nvPr/>
        </p:nvSpPr>
        <p:spPr>
          <a:xfrm>
            <a:off x="6309360" y="4818888"/>
            <a:ext cx="2468880" cy="34747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Deterministic masking</a:t>
            </a:r>
            <a:endParaRPr lang="en-US" sz="1300" dirty="0"/>
          </a:p>
        </p:txBody>
      </p:sp>
      <p:sp>
        <p:nvSpPr>
          <p:cNvPr id="42" name="Text 36"/>
          <p:cNvSpPr/>
          <p:nvPr/>
        </p:nvSpPr>
        <p:spPr>
          <a:xfrm>
            <a:off x="6309360" y="5166360"/>
            <a:ext cx="2468880" cy="5486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Same input → same output, so diffs still work.</a:t>
            </a:r>
            <a:endParaRPr lang="en-US" sz="1100" dirty="0"/>
          </a:p>
        </p:txBody>
      </p:sp>
      <p:sp>
        <p:nvSpPr>
          <p:cNvPr id="43" name="Shape 37"/>
          <p:cNvSpPr/>
          <p:nvPr/>
        </p:nvSpPr>
        <p:spPr>
          <a:xfrm>
            <a:off x="8961120" y="4709160"/>
            <a:ext cx="2743200" cy="1097280"/>
          </a:xfrm>
          <a:prstGeom prst="rect">
            <a:avLst/>
          </a:prstGeom>
          <a:solidFill>
            <a:srgbClr val="FFFFFF"/>
          </a:solidFill>
          <a:ln w="9525">
            <a:solidFill>
              <a:srgbClr val="E2E8F0"/>
            </a:solidFill>
            <a:prstDash val="solid"/>
          </a:ln>
        </p:spPr>
      </p:sp>
      <p:sp>
        <p:nvSpPr>
          <p:cNvPr id="44" name="Shape 38"/>
          <p:cNvSpPr/>
          <p:nvPr/>
        </p:nvSpPr>
        <p:spPr>
          <a:xfrm>
            <a:off x="8961120" y="4709160"/>
            <a:ext cx="73152" cy="1097280"/>
          </a:xfrm>
          <a:prstGeom prst="rect">
            <a:avLst/>
          </a:prstGeom>
          <a:solidFill>
            <a:srgbClr val="10B981"/>
          </a:solidFill>
          <a:ln w="12700">
            <a:solidFill>
              <a:srgbClr val="10B981"/>
            </a:solidFill>
            <a:prstDash val="solid"/>
          </a:ln>
        </p:spPr>
      </p:sp>
      <p:sp>
        <p:nvSpPr>
          <p:cNvPr id="45" name="Text 39"/>
          <p:cNvSpPr/>
          <p:nvPr/>
        </p:nvSpPr>
        <p:spPr>
          <a:xfrm>
            <a:off x="9144000" y="4818888"/>
            <a:ext cx="2468880" cy="34747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Audited &amp; policy-driven</a:t>
            </a:r>
            <a:endParaRPr lang="en-US" sz="1300" dirty="0"/>
          </a:p>
        </p:txBody>
      </p:sp>
      <p:sp>
        <p:nvSpPr>
          <p:cNvPr id="46" name="Text 40"/>
          <p:cNvSpPr/>
          <p:nvPr/>
        </p:nvSpPr>
        <p:spPr>
          <a:xfrm>
            <a:off x="9144000" y="5166360"/>
            <a:ext cx="2468880" cy="5486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Every read, every policy change is logged.</a:t>
            </a:r>
            <a:endParaRPr lang="en-US" sz="1100" dirty="0"/>
          </a:p>
        </p:txBody>
      </p:sp>
      <p:sp>
        <p:nvSpPr>
          <p:cNvPr id="47" name="Text 41"/>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Runtime Data Redaction in PTE  |  Commercial Cards QC Strategy</a:t>
            </a:r>
            <a:endParaRPr lang="en-US" sz="900" dirty="0"/>
          </a:p>
        </p:txBody>
      </p:sp>
      <p:sp>
        <p:nvSpPr>
          <p:cNvPr id="48" name="Text 42"/>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92608"/>
            <a:ext cx="11247120" cy="274320"/>
          </a:xfrm>
          <a:prstGeom prst="rect">
            <a:avLst/>
          </a:prstGeom>
          <a:noFill/>
          <a:ln/>
        </p:spPr>
        <p:txBody>
          <a:bodyPr wrap="square" lIns="0" tIns="0" rIns="0" bIns="0" rtlCol="0" anchor="ctr"/>
          <a:lstStyle/>
          <a:p>
            <a:pPr indent="0" marL="0">
              <a:buNone/>
            </a:pPr>
            <a:r>
              <a:rPr lang="en-US" sz="1100" b="1" spc="400" kern="0" dirty="0">
                <a:solidFill>
                  <a:srgbClr val="64748B"/>
                </a:solidFill>
                <a:latin typeface="Calibri" pitchFamily="34" charset="0"/>
                <a:ea typeface="Calibri" pitchFamily="34" charset="-122"/>
                <a:cs typeface="Calibri" pitchFamily="34" charset="-120"/>
              </a:rPr>
              <a:t>ARCHITECTURE</a:t>
            </a:r>
            <a:endParaRPr lang="en-US" sz="1100"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Four building blocks, one control plane</a:t>
            </a:r>
            <a:endParaRPr lang="en-US" sz="2800" dirty="0"/>
          </a:p>
        </p:txBody>
      </p:sp>
      <p:sp>
        <p:nvSpPr>
          <p:cNvPr id="4" name="Text 2"/>
          <p:cNvSpPr/>
          <p:nvPr/>
        </p:nvSpPr>
        <p:spPr>
          <a:xfrm>
            <a:off x="457200" y="1280160"/>
            <a:ext cx="11247120" cy="36576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These four Oracle components work together. Skipping any one leaves a defensible gap (especially #2 for DBA hardening).</a:t>
            </a:r>
            <a:endParaRPr lang="en-US" sz="1200" dirty="0"/>
          </a:p>
        </p:txBody>
      </p:sp>
      <p:sp>
        <p:nvSpPr>
          <p:cNvPr id="5" name="Shape 3"/>
          <p:cNvSpPr/>
          <p:nvPr/>
        </p:nvSpPr>
        <p:spPr>
          <a:xfrm>
            <a:off x="457200" y="1828800"/>
            <a:ext cx="5532120" cy="2194560"/>
          </a:xfrm>
          <a:prstGeom prst="rect">
            <a:avLst/>
          </a:prstGeom>
          <a:solidFill>
            <a:srgbClr val="FFFFFF"/>
          </a:solidFill>
          <a:ln w="9525">
            <a:solidFill>
              <a:srgbClr val="E2E8F0"/>
            </a:solidFill>
            <a:prstDash val="solid"/>
          </a:ln>
        </p:spPr>
      </p:sp>
      <p:sp>
        <p:nvSpPr>
          <p:cNvPr id="6" name="Shape 4"/>
          <p:cNvSpPr/>
          <p:nvPr/>
        </p:nvSpPr>
        <p:spPr>
          <a:xfrm>
            <a:off x="457200" y="1828800"/>
            <a:ext cx="73152" cy="2194560"/>
          </a:xfrm>
          <a:prstGeom prst="rect">
            <a:avLst/>
          </a:prstGeom>
          <a:solidFill>
            <a:srgbClr val="1E2761"/>
          </a:solidFill>
          <a:ln w="12700">
            <a:solidFill>
              <a:srgbClr val="1E2761"/>
            </a:solidFill>
            <a:prstDash val="solid"/>
          </a:ln>
        </p:spPr>
      </p:sp>
      <p:sp>
        <p:nvSpPr>
          <p:cNvPr id="7" name="Shape 5"/>
          <p:cNvSpPr/>
          <p:nvPr/>
        </p:nvSpPr>
        <p:spPr>
          <a:xfrm>
            <a:off x="777240" y="2103120"/>
            <a:ext cx="640080" cy="640080"/>
          </a:xfrm>
          <a:prstGeom prst="ellipse">
            <a:avLst/>
          </a:prstGeom>
          <a:solidFill>
            <a:srgbClr val="CADCFC"/>
          </a:solidFill>
          <a:ln w="12700">
            <a:solidFill>
              <a:srgbClr val="CADCFC"/>
            </a:solidFill>
            <a:prstDash val="solid"/>
          </a:ln>
        </p:spPr>
      </p:sp>
      <p:pic>
        <p:nvPicPr>
          <p:cNvPr id="8" name="Image 0" descr="preencoded.png">    </p:cNvPr>
          <p:cNvPicPr>
            <a:picLocks noChangeAspect="1"/>
          </p:cNvPicPr>
          <p:nvPr/>
        </p:nvPicPr>
        <p:blipFill>
          <a:blip r:embed="rId1"/>
          <a:stretch>
            <a:fillRect/>
          </a:stretch>
        </p:blipFill>
        <p:spPr>
          <a:xfrm>
            <a:off x="914400" y="2240280"/>
            <a:ext cx="365760" cy="365760"/>
          </a:xfrm>
          <a:prstGeom prst="rect">
            <a:avLst/>
          </a:prstGeom>
        </p:spPr>
      </p:pic>
      <p:sp>
        <p:nvSpPr>
          <p:cNvPr id="9" name="Text 6"/>
          <p:cNvSpPr/>
          <p:nvPr/>
        </p:nvSpPr>
        <p:spPr>
          <a:xfrm>
            <a:off x="1554480" y="2103120"/>
            <a:ext cx="4251960" cy="274320"/>
          </a:xfrm>
          <a:prstGeom prst="rect">
            <a:avLst/>
          </a:prstGeom>
          <a:noFill/>
          <a:ln/>
        </p:spPr>
        <p:txBody>
          <a:bodyPr wrap="square" lIns="0" tIns="0" rIns="0" bIns="0" rtlCol="0" anchor="ctr"/>
          <a:lstStyle/>
          <a:p>
            <a:pPr indent="0" marL="0">
              <a:buNone/>
            </a:pPr>
            <a:r>
              <a:rPr lang="en-US" sz="1000" b="1" spc="400" kern="0" dirty="0">
                <a:solidFill>
                  <a:srgbClr val="1E2761"/>
                </a:solidFill>
                <a:latin typeface="Calibri" pitchFamily="34" charset="0"/>
                <a:ea typeface="Calibri" pitchFamily="34" charset="-122"/>
                <a:cs typeface="Calibri" pitchFamily="34" charset="-120"/>
              </a:rPr>
              <a:t>1 · ORACLE DATA REDACTION</a:t>
            </a:r>
            <a:endParaRPr lang="en-US" sz="1000" dirty="0"/>
          </a:p>
        </p:txBody>
      </p:sp>
      <p:sp>
        <p:nvSpPr>
          <p:cNvPr id="10" name="Text 7"/>
          <p:cNvSpPr/>
          <p:nvPr/>
        </p:nvSpPr>
        <p:spPr>
          <a:xfrm>
            <a:off x="1554480" y="2377440"/>
            <a:ext cx="4251960" cy="365760"/>
          </a:xfrm>
          <a:prstGeom prst="rect">
            <a:avLst/>
          </a:prstGeom>
          <a:noFill/>
          <a:ln/>
        </p:spPr>
        <p:txBody>
          <a:bodyPr wrap="square" lIns="0" tIns="0" rIns="0" bIns="0" rtlCol="0" anchor="ctr"/>
          <a:lstStyle/>
          <a:p>
            <a:pPr indent="0" marL="0">
              <a:buNone/>
            </a:pPr>
            <a:r>
              <a:rPr lang="en-US" sz="1700" b="1" dirty="0">
                <a:solidFill>
                  <a:srgbClr val="1E2761"/>
                </a:solidFill>
                <a:latin typeface="Georgia" pitchFamily="34" charset="0"/>
                <a:ea typeface="Georgia" pitchFamily="34" charset="-122"/>
                <a:cs typeface="Georgia" pitchFamily="34" charset="-120"/>
              </a:rPr>
              <a:t>Column-level policies</a:t>
            </a:r>
            <a:endParaRPr lang="en-US" sz="1700" dirty="0"/>
          </a:p>
        </p:txBody>
      </p:sp>
      <p:sp>
        <p:nvSpPr>
          <p:cNvPr id="11" name="Text 8"/>
          <p:cNvSpPr/>
          <p:nvPr/>
        </p:nvSpPr>
        <p:spPr>
          <a:xfrm>
            <a:off x="777240" y="2880360"/>
            <a:ext cx="5029200" cy="10515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Attached via DBMS_REDACT.ADD_POLICY. PARTIAL (PAN 6+4), REGEXP (email/address), FULL (SSN/CVV), NULLIFY (skip).</a:t>
            </a:r>
            <a:endParaRPr lang="en-US" sz="1200" dirty="0"/>
          </a:p>
        </p:txBody>
      </p:sp>
      <p:sp>
        <p:nvSpPr>
          <p:cNvPr id="12" name="Shape 9"/>
          <p:cNvSpPr/>
          <p:nvPr/>
        </p:nvSpPr>
        <p:spPr>
          <a:xfrm>
            <a:off x="6080760" y="1828800"/>
            <a:ext cx="5532120" cy="2194560"/>
          </a:xfrm>
          <a:prstGeom prst="rect">
            <a:avLst/>
          </a:prstGeom>
          <a:solidFill>
            <a:srgbClr val="FFFFFF"/>
          </a:solidFill>
          <a:ln w="9525">
            <a:solidFill>
              <a:srgbClr val="E2E8F0"/>
            </a:solidFill>
            <a:prstDash val="solid"/>
          </a:ln>
        </p:spPr>
      </p:sp>
      <p:sp>
        <p:nvSpPr>
          <p:cNvPr id="13" name="Shape 10"/>
          <p:cNvSpPr/>
          <p:nvPr/>
        </p:nvSpPr>
        <p:spPr>
          <a:xfrm>
            <a:off x="6080760" y="1828800"/>
            <a:ext cx="73152" cy="2194560"/>
          </a:xfrm>
          <a:prstGeom prst="rect">
            <a:avLst/>
          </a:prstGeom>
          <a:solidFill>
            <a:srgbClr val="1E2761"/>
          </a:solidFill>
          <a:ln w="12700">
            <a:solidFill>
              <a:srgbClr val="1E2761"/>
            </a:solidFill>
            <a:prstDash val="solid"/>
          </a:ln>
        </p:spPr>
      </p:sp>
      <p:sp>
        <p:nvSpPr>
          <p:cNvPr id="14" name="Shape 11"/>
          <p:cNvSpPr/>
          <p:nvPr/>
        </p:nvSpPr>
        <p:spPr>
          <a:xfrm>
            <a:off x="6400800" y="2103120"/>
            <a:ext cx="640080" cy="640080"/>
          </a:xfrm>
          <a:prstGeom prst="ellipse">
            <a:avLst/>
          </a:prstGeom>
          <a:solidFill>
            <a:srgbClr val="CADCFC"/>
          </a:solidFill>
          <a:ln w="12700">
            <a:solidFill>
              <a:srgbClr val="CADCFC"/>
            </a:solidFill>
            <a:prstDash val="solid"/>
          </a:ln>
        </p:spPr>
      </p:sp>
      <p:pic>
        <p:nvPicPr>
          <p:cNvPr id="15" name="Image 1" descr="preencoded.png">    </p:cNvPr>
          <p:cNvPicPr>
            <a:picLocks noChangeAspect="1"/>
          </p:cNvPicPr>
          <p:nvPr/>
        </p:nvPicPr>
        <p:blipFill>
          <a:blip r:embed="rId2"/>
          <a:stretch>
            <a:fillRect/>
          </a:stretch>
        </p:blipFill>
        <p:spPr>
          <a:xfrm>
            <a:off x="6537960" y="2240280"/>
            <a:ext cx="365760" cy="365760"/>
          </a:xfrm>
          <a:prstGeom prst="rect">
            <a:avLst/>
          </a:prstGeom>
        </p:spPr>
      </p:pic>
      <p:sp>
        <p:nvSpPr>
          <p:cNvPr id="16" name="Text 12"/>
          <p:cNvSpPr/>
          <p:nvPr/>
        </p:nvSpPr>
        <p:spPr>
          <a:xfrm>
            <a:off x="7178040" y="2103120"/>
            <a:ext cx="4251960" cy="274320"/>
          </a:xfrm>
          <a:prstGeom prst="rect">
            <a:avLst/>
          </a:prstGeom>
          <a:noFill/>
          <a:ln/>
        </p:spPr>
        <p:txBody>
          <a:bodyPr wrap="square" lIns="0" tIns="0" rIns="0" bIns="0" rtlCol="0" anchor="ctr"/>
          <a:lstStyle/>
          <a:p>
            <a:pPr indent="0" marL="0">
              <a:buNone/>
            </a:pPr>
            <a:r>
              <a:rPr lang="en-US" sz="1000" b="1" spc="400" kern="0" dirty="0">
                <a:solidFill>
                  <a:srgbClr val="1E2761"/>
                </a:solidFill>
                <a:latin typeface="Calibri" pitchFamily="34" charset="0"/>
                <a:ea typeface="Calibri" pitchFamily="34" charset="-122"/>
                <a:cs typeface="Calibri" pitchFamily="34" charset="-120"/>
              </a:rPr>
              <a:t>2 · ORACLE DATABASE VAULT</a:t>
            </a:r>
            <a:endParaRPr lang="en-US" sz="1000" dirty="0"/>
          </a:p>
        </p:txBody>
      </p:sp>
      <p:sp>
        <p:nvSpPr>
          <p:cNvPr id="17" name="Text 13"/>
          <p:cNvSpPr/>
          <p:nvPr/>
        </p:nvSpPr>
        <p:spPr>
          <a:xfrm>
            <a:off x="7178040" y="2377440"/>
            <a:ext cx="4251960" cy="365760"/>
          </a:xfrm>
          <a:prstGeom prst="rect">
            <a:avLst/>
          </a:prstGeom>
          <a:noFill/>
          <a:ln/>
        </p:spPr>
        <p:txBody>
          <a:bodyPr wrap="square" lIns="0" tIns="0" rIns="0" bIns="0" rtlCol="0" anchor="ctr"/>
          <a:lstStyle/>
          <a:p>
            <a:pPr indent="0" marL="0">
              <a:buNone/>
            </a:pPr>
            <a:r>
              <a:rPr lang="en-US" sz="1700" b="1" dirty="0">
                <a:solidFill>
                  <a:srgbClr val="1E2761"/>
                </a:solidFill>
                <a:latin typeface="Georgia" pitchFamily="34" charset="0"/>
                <a:ea typeface="Georgia" pitchFamily="34" charset="-122"/>
                <a:cs typeface="Georgia" pitchFamily="34" charset="-120"/>
              </a:rPr>
              <a:t>DBA-proof realms</a:t>
            </a:r>
            <a:endParaRPr lang="en-US" sz="1700" dirty="0"/>
          </a:p>
        </p:txBody>
      </p:sp>
      <p:sp>
        <p:nvSpPr>
          <p:cNvPr id="18" name="Text 14"/>
          <p:cNvSpPr/>
          <p:nvPr/>
        </p:nvSpPr>
        <p:spPr>
          <a:xfrm>
            <a:off x="6400800" y="2880360"/>
            <a:ext cx="5029200" cy="10515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Without this, anyone with EXEMPT REDACTION POLICY (incl. DBAs) bypasses everything. Vault realms close that gap.</a:t>
            </a:r>
            <a:endParaRPr lang="en-US" sz="1200" dirty="0"/>
          </a:p>
        </p:txBody>
      </p:sp>
      <p:sp>
        <p:nvSpPr>
          <p:cNvPr id="19" name="Shape 15"/>
          <p:cNvSpPr/>
          <p:nvPr/>
        </p:nvSpPr>
        <p:spPr>
          <a:xfrm>
            <a:off x="457200" y="4160520"/>
            <a:ext cx="5532120" cy="2194560"/>
          </a:xfrm>
          <a:prstGeom prst="rect">
            <a:avLst/>
          </a:prstGeom>
          <a:solidFill>
            <a:srgbClr val="FFFFFF"/>
          </a:solidFill>
          <a:ln w="9525">
            <a:solidFill>
              <a:srgbClr val="E2E8F0"/>
            </a:solidFill>
            <a:prstDash val="solid"/>
          </a:ln>
        </p:spPr>
      </p:sp>
      <p:sp>
        <p:nvSpPr>
          <p:cNvPr id="20" name="Shape 16"/>
          <p:cNvSpPr/>
          <p:nvPr/>
        </p:nvSpPr>
        <p:spPr>
          <a:xfrm>
            <a:off x="457200" y="4160520"/>
            <a:ext cx="73152" cy="2194560"/>
          </a:xfrm>
          <a:prstGeom prst="rect">
            <a:avLst/>
          </a:prstGeom>
          <a:solidFill>
            <a:srgbClr val="1E2761"/>
          </a:solidFill>
          <a:ln w="12700">
            <a:solidFill>
              <a:srgbClr val="1E2761"/>
            </a:solidFill>
            <a:prstDash val="solid"/>
          </a:ln>
        </p:spPr>
      </p:sp>
      <p:sp>
        <p:nvSpPr>
          <p:cNvPr id="21" name="Shape 17"/>
          <p:cNvSpPr/>
          <p:nvPr/>
        </p:nvSpPr>
        <p:spPr>
          <a:xfrm>
            <a:off x="777240" y="4434840"/>
            <a:ext cx="640080" cy="640080"/>
          </a:xfrm>
          <a:prstGeom prst="ellipse">
            <a:avLst/>
          </a:prstGeom>
          <a:solidFill>
            <a:srgbClr val="CADCFC"/>
          </a:solidFill>
          <a:ln w="12700">
            <a:solidFill>
              <a:srgbClr val="CADCFC"/>
            </a:solidFill>
            <a:prstDash val="solid"/>
          </a:ln>
        </p:spPr>
      </p:sp>
      <p:pic>
        <p:nvPicPr>
          <p:cNvPr id="22" name="Image 2" descr="preencoded.png">    </p:cNvPr>
          <p:cNvPicPr>
            <a:picLocks noChangeAspect="1"/>
          </p:cNvPicPr>
          <p:nvPr/>
        </p:nvPicPr>
        <p:blipFill>
          <a:blip r:embed="rId3"/>
          <a:stretch>
            <a:fillRect/>
          </a:stretch>
        </p:blipFill>
        <p:spPr>
          <a:xfrm>
            <a:off x="914400" y="4572000"/>
            <a:ext cx="365760" cy="365760"/>
          </a:xfrm>
          <a:prstGeom prst="rect">
            <a:avLst/>
          </a:prstGeom>
        </p:spPr>
      </p:pic>
      <p:sp>
        <p:nvSpPr>
          <p:cNvPr id="23" name="Text 18"/>
          <p:cNvSpPr/>
          <p:nvPr/>
        </p:nvSpPr>
        <p:spPr>
          <a:xfrm>
            <a:off x="1554480" y="4434840"/>
            <a:ext cx="4251960" cy="274320"/>
          </a:xfrm>
          <a:prstGeom prst="rect">
            <a:avLst/>
          </a:prstGeom>
          <a:noFill/>
          <a:ln/>
        </p:spPr>
        <p:txBody>
          <a:bodyPr wrap="square" lIns="0" tIns="0" rIns="0" bIns="0" rtlCol="0" anchor="ctr"/>
          <a:lstStyle/>
          <a:p>
            <a:pPr indent="0" marL="0">
              <a:buNone/>
            </a:pPr>
            <a:r>
              <a:rPr lang="en-US" sz="1000" b="1" spc="400" kern="0" dirty="0">
                <a:solidFill>
                  <a:srgbClr val="1E2761"/>
                </a:solidFill>
                <a:latin typeface="Calibri" pitchFamily="34" charset="0"/>
                <a:ea typeface="Calibri" pitchFamily="34" charset="-122"/>
                <a:cs typeface="Calibri" pitchFamily="34" charset="-120"/>
              </a:rPr>
              <a:t>3 · APP CONTEXT + LOGON TRIGGER</a:t>
            </a:r>
            <a:endParaRPr lang="en-US" sz="1000" dirty="0"/>
          </a:p>
        </p:txBody>
      </p:sp>
      <p:sp>
        <p:nvSpPr>
          <p:cNvPr id="24" name="Text 19"/>
          <p:cNvSpPr/>
          <p:nvPr/>
        </p:nvSpPr>
        <p:spPr>
          <a:xfrm>
            <a:off x="1554480" y="4709160"/>
            <a:ext cx="4251960" cy="365760"/>
          </a:xfrm>
          <a:prstGeom prst="rect">
            <a:avLst/>
          </a:prstGeom>
          <a:noFill/>
          <a:ln/>
        </p:spPr>
        <p:txBody>
          <a:bodyPr wrap="square" lIns="0" tIns="0" rIns="0" bIns="0" rtlCol="0" anchor="ctr"/>
          <a:lstStyle/>
          <a:p>
            <a:pPr indent="0" marL="0">
              <a:buNone/>
            </a:pPr>
            <a:r>
              <a:rPr lang="en-US" sz="1700" b="1" dirty="0">
                <a:solidFill>
                  <a:srgbClr val="1E2761"/>
                </a:solidFill>
                <a:latin typeface="Georgia" pitchFamily="34" charset="0"/>
                <a:ea typeface="Georgia" pitchFamily="34" charset="-122"/>
                <a:cs typeface="Georgia" pitchFamily="34" charset="-120"/>
              </a:rPr>
              <a:t>Who is this session?</a:t>
            </a:r>
            <a:endParaRPr lang="en-US" sz="1700" dirty="0"/>
          </a:p>
        </p:txBody>
      </p:sp>
      <p:sp>
        <p:nvSpPr>
          <p:cNvPr id="25" name="Text 20"/>
          <p:cNvSpPr/>
          <p:nvPr/>
        </p:nvSpPr>
        <p:spPr>
          <a:xfrm>
            <a:off x="777240" y="5212080"/>
            <a:ext cx="5029200" cy="10515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BEFORE LOGON trigger reads SESSION_USER, IP, OS user, program. Sets TEST_ACCESS_CTX(tier, region, clearance).</a:t>
            </a:r>
            <a:endParaRPr lang="en-US" sz="1200" dirty="0"/>
          </a:p>
        </p:txBody>
      </p:sp>
      <p:sp>
        <p:nvSpPr>
          <p:cNvPr id="26" name="Shape 21"/>
          <p:cNvSpPr/>
          <p:nvPr/>
        </p:nvSpPr>
        <p:spPr>
          <a:xfrm>
            <a:off x="6080760" y="4160520"/>
            <a:ext cx="5532120" cy="2194560"/>
          </a:xfrm>
          <a:prstGeom prst="rect">
            <a:avLst/>
          </a:prstGeom>
          <a:solidFill>
            <a:srgbClr val="FFFFFF"/>
          </a:solidFill>
          <a:ln w="9525">
            <a:solidFill>
              <a:srgbClr val="E2E8F0"/>
            </a:solidFill>
            <a:prstDash val="solid"/>
          </a:ln>
        </p:spPr>
      </p:sp>
      <p:sp>
        <p:nvSpPr>
          <p:cNvPr id="27" name="Shape 22"/>
          <p:cNvSpPr/>
          <p:nvPr/>
        </p:nvSpPr>
        <p:spPr>
          <a:xfrm>
            <a:off x="6080760" y="4160520"/>
            <a:ext cx="73152" cy="2194560"/>
          </a:xfrm>
          <a:prstGeom prst="rect">
            <a:avLst/>
          </a:prstGeom>
          <a:solidFill>
            <a:srgbClr val="1E2761"/>
          </a:solidFill>
          <a:ln w="12700">
            <a:solidFill>
              <a:srgbClr val="1E2761"/>
            </a:solidFill>
            <a:prstDash val="solid"/>
          </a:ln>
        </p:spPr>
      </p:sp>
      <p:sp>
        <p:nvSpPr>
          <p:cNvPr id="28" name="Shape 23"/>
          <p:cNvSpPr/>
          <p:nvPr/>
        </p:nvSpPr>
        <p:spPr>
          <a:xfrm>
            <a:off x="6400800" y="4434840"/>
            <a:ext cx="640080" cy="640080"/>
          </a:xfrm>
          <a:prstGeom prst="ellipse">
            <a:avLst/>
          </a:prstGeom>
          <a:solidFill>
            <a:srgbClr val="CADCFC"/>
          </a:solidFill>
          <a:ln w="12700">
            <a:solidFill>
              <a:srgbClr val="CADCFC"/>
            </a:solidFill>
            <a:prstDash val="solid"/>
          </a:ln>
        </p:spPr>
      </p:sp>
      <p:pic>
        <p:nvPicPr>
          <p:cNvPr id="29" name="Image 3" descr="preencoded.png">    </p:cNvPr>
          <p:cNvPicPr>
            <a:picLocks noChangeAspect="1"/>
          </p:cNvPicPr>
          <p:nvPr/>
        </p:nvPicPr>
        <p:blipFill>
          <a:blip r:embed="rId4"/>
          <a:stretch>
            <a:fillRect/>
          </a:stretch>
        </p:blipFill>
        <p:spPr>
          <a:xfrm>
            <a:off x="6537960" y="4572000"/>
            <a:ext cx="365760" cy="365760"/>
          </a:xfrm>
          <a:prstGeom prst="rect">
            <a:avLst/>
          </a:prstGeom>
        </p:spPr>
      </p:pic>
      <p:sp>
        <p:nvSpPr>
          <p:cNvPr id="30" name="Text 24"/>
          <p:cNvSpPr/>
          <p:nvPr/>
        </p:nvSpPr>
        <p:spPr>
          <a:xfrm>
            <a:off x="7178040" y="4434840"/>
            <a:ext cx="4251960" cy="274320"/>
          </a:xfrm>
          <a:prstGeom prst="rect">
            <a:avLst/>
          </a:prstGeom>
          <a:noFill/>
          <a:ln/>
        </p:spPr>
        <p:txBody>
          <a:bodyPr wrap="square" lIns="0" tIns="0" rIns="0" bIns="0" rtlCol="0" anchor="ctr"/>
          <a:lstStyle/>
          <a:p>
            <a:pPr indent="0" marL="0">
              <a:buNone/>
            </a:pPr>
            <a:r>
              <a:rPr lang="en-US" sz="1000" b="1" spc="400" kern="0" dirty="0">
                <a:solidFill>
                  <a:srgbClr val="1E2761"/>
                </a:solidFill>
                <a:latin typeface="Calibri" pitchFamily="34" charset="0"/>
                <a:ea typeface="Calibri" pitchFamily="34" charset="-122"/>
                <a:cs typeface="Calibri" pitchFamily="34" charset="-120"/>
              </a:rPr>
              <a:t>4 · UNIFIED AUDITING</a:t>
            </a:r>
            <a:endParaRPr lang="en-US" sz="1000" dirty="0"/>
          </a:p>
        </p:txBody>
      </p:sp>
      <p:sp>
        <p:nvSpPr>
          <p:cNvPr id="31" name="Text 25"/>
          <p:cNvSpPr/>
          <p:nvPr/>
        </p:nvSpPr>
        <p:spPr>
          <a:xfrm>
            <a:off x="7178040" y="4709160"/>
            <a:ext cx="4251960" cy="365760"/>
          </a:xfrm>
          <a:prstGeom prst="rect">
            <a:avLst/>
          </a:prstGeom>
          <a:noFill/>
          <a:ln/>
        </p:spPr>
        <p:txBody>
          <a:bodyPr wrap="square" lIns="0" tIns="0" rIns="0" bIns="0" rtlCol="0" anchor="ctr"/>
          <a:lstStyle/>
          <a:p>
            <a:pPr indent="0" marL="0">
              <a:buNone/>
            </a:pPr>
            <a:r>
              <a:rPr lang="en-US" sz="1700" b="1" dirty="0">
                <a:solidFill>
                  <a:srgbClr val="1E2761"/>
                </a:solidFill>
                <a:latin typeface="Georgia" pitchFamily="34" charset="0"/>
                <a:ea typeface="Georgia" pitchFamily="34" charset="-122"/>
                <a:cs typeface="Georgia" pitchFamily="34" charset="-120"/>
              </a:rPr>
              <a:t>Proof for the auditor</a:t>
            </a:r>
            <a:endParaRPr lang="en-US" sz="1700" dirty="0"/>
          </a:p>
        </p:txBody>
      </p:sp>
      <p:sp>
        <p:nvSpPr>
          <p:cNvPr id="32" name="Text 26"/>
          <p:cNvSpPr/>
          <p:nvPr/>
        </p:nvSpPr>
        <p:spPr>
          <a:xfrm>
            <a:off x="6400800" y="5212080"/>
            <a:ext cx="5029200" cy="10515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Audit policies on sensitive columns and on DBMS_REDACT itself. Tamper-evident record of who saw what.</a:t>
            </a:r>
            <a:endParaRPr lang="en-US" sz="1200" dirty="0"/>
          </a:p>
        </p:txBody>
      </p:sp>
      <p:sp>
        <p:nvSpPr>
          <p:cNvPr id="33" name="Text 27"/>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Runtime Data Redaction in PTE  |  Commercial Cards QC Strategy</a:t>
            </a:r>
            <a:endParaRPr lang="en-US" sz="900" dirty="0"/>
          </a:p>
        </p:txBody>
      </p:sp>
      <p:sp>
        <p:nvSpPr>
          <p:cNvPr id="34" name="Text 28"/>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92608"/>
            <a:ext cx="11247120" cy="274320"/>
          </a:xfrm>
          <a:prstGeom prst="rect">
            <a:avLst/>
          </a:prstGeom>
          <a:noFill/>
          <a:ln/>
        </p:spPr>
        <p:txBody>
          <a:bodyPr wrap="square" lIns="0" tIns="0" rIns="0" bIns="0" rtlCol="0" anchor="ctr"/>
          <a:lstStyle/>
          <a:p>
            <a:pPr indent="0" marL="0">
              <a:buNone/>
            </a:pPr>
            <a:r>
              <a:rPr lang="en-US" sz="1100" b="1" spc="400" kern="0" dirty="0">
                <a:solidFill>
                  <a:srgbClr val="64748B"/>
                </a:solidFill>
                <a:latin typeface="Calibri" pitchFamily="34" charset="0"/>
                <a:ea typeface="Calibri" pitchFamily="34" charset="-122"/>
                <a:cs typeface="Calibri" pitchFamily="34" charset="-120"/>
              </a:rPr>
              <a:t>ACCESS MODEL</a:t>
            </a:r>
            <a:endParaRPr lang="en-US" sz="1100"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Three tiers, driven by session context</a:t>
            </a:r>
            <a:endParaRPr lang="en-US" sz="2800" dirty="0"/>
          </a:p>
        </p:txBody>
      </p:sp>
      <p:sp>
        <p:nvSpPr>
          <p:cNvPr id="4" name="Text 2"/>
          <p:cNvSpPr/>
          <p:nvPr/>
        </p:nvSpPr>
        <p:spPr>
          <a:xfrm>
            <a:off x="457200" y="1280160"/>
            <a:ext cx="11247120" cy="36576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Tier is assigned by combining database role, source IP geofence, OS user, and a user→tier mapping table. Fail closed on any unexpected combination.</a:t>
            </a:r>
            <a:endParaRPr lang="en-US" sz="1200" dirty="0"/>
          </a:p>
        </p:txBody>
      </p:sp>
      <p:sp>
        <p:nvSpPr>
          <p:cNvPr id="5" name="Shape 3"/>
          <p:cNvSpPr/>
          <p:nvPr/>
        </p:nvSpPr>
        <p:spPr>
          <a:xfrm>
            <a:off x="457200" y="1828800"/>
            <a:ext cx="3794760" cy="4572000"/>
          </a:xfrm>
          <a:prstGeom prst="rect">
            <a:avLst/>
          </a:prstGeom>
          <a:solidFill>
            <a:srgbClr val="FFFFFF"/>
          </a:solidFill>
          <a:ln w="9525">
            <a:solidFill>
              <a:srgbClr val="E2E8F0"/>
            </a:solidFill>
            <a:prstDash val="solid"/>
          </a:ln>
        </p:spPr>
      </p:sp>
      <p:sp>
        <p:nvSpPr>
          <p:cNvPr id="6" name="Shape 4"/>
          <p:cNvSpPr/>
          <p:nvPr/>
        </p:nvSpPr>
        <p:spPr>
          <a:xfrm>
            <a:off x="457200" y="1828800"/>
            <a:ext cx="3794760" cy="457200"/>
          </a:xfrm>
          <a:prstGeom prst="rect">
            <a:avLst/>
          </a:prstGeom>
          <a:solidFill>
            <a:srgbClr val="DC2626"/>
          </a:solidFill>
          <a:ln w="12700">
            <a:solidFill>
              <a:srgbClr val="DC2626"/>
            </a:solidFill>
            <a:prstDash val="solid"/>
          </a:ln>
        </p:spPr>
      </p:sp>
      <p:sp>
        <p:nvSpPr>
          <p:cNvPr id="7" name="Text 5"/>
          <p:cNvSpPr/>
          <p:nvPr/>
        </p:nvSpPr>
        <p:spPr>
          <a:xfrm>
            <a:off x="457200" y="1892808"/>
            <a:ext cx="3794760" cy="320040"/>
          </a:xfrm>
          <a:prstGeom prst="rect">
            <a:avLst/>
          </a:prstGeom>
          <a:noFill/>
          <a:ln/>
        </p:spPr>
        <p:txBody>
          <a:bodyPr wrap="square" lIns="0" tIns="0" rIns="0" bIns="0" rtlCol="0" anchor="ctr"/>
          <a:lstStyle/>
          <a:p>
            <a:pPr algn="ctr" indent="0" marL="0">
              <a:buNone/>
            </a:pPr>
            <a:r>
              <a:rPr lang="en-US" sz="1100" b="1" spc="600" kern="0" dirty="0">
                <a:solidFill>
                  <a:srgbClr val="FFFFFF"/>
                </a:solidFill>
                <a:latin typeface="Calibri" pitchFamily="34" charset="0"/>
                <a:ea typeface="Calibri" pitchFamily="34" charset="-122"/>
                <a:cs typeface="Calibri" pitchFamily="34" charset="-120"/>
              </a:rPr>
              <a:t>RAW</a:t>
            </a:r>
            <a:endParaRPr lang="en-US" sz="1100" dirty="0"/>
          </a:p>
        </p:txBody>
      </p:sp>
      <p:sp>
        <p:nvSpPr>
          <p:cNvPr id="8" name="Text 6"/>
          <p:cNvSpPr/>
          <p:nvPr/>
        </p:nvSpPr>
        <p:spPr>
          <a:xfrm>
            <a:off x="685800" y="2468880"/>
            <a:ext cx="3337560" cy="457200"/>
          </a:xfrm>
          <a:prstGeom prst="rect">
            <a:avLst/>
          </a:prstGeom>
          <a:noFill/>
          <a:ln/>
        </p:spPr>
        <p:txBody>
          <a:bodyPr wrap="square" lIns="0" tIns="0" rIns="0" bIns="0" rtlCol="0" anchor="ctr"/>
          <a:lstStyle/>
          <a:p>
            <a:pPr indent="0" marL="0">
              <a:buNone/>
            </a:pPr>
            <a:r>
              <a:rPr lang="en-US" sz="1600" b="1" dirty="0">
                <a:solidFill>
                  <a:srgbClr val="1E2761"/>
                </a:solidFill>
                <a:latin typeface="Georgia" pitchFamily="34" charset="0"/>
                <a:ea typeface="Georgia" pitchFamily="34" charset="-122"/>
                <a:cs typeface="Georgia" pitchFamily="34" charset="-120"/>
              </a:rPr>
              <a:t>Cleared US testers</a:t>
            </a:r>
            <a:endParaRPr lang="en-US" sz="1600" dirty="0"/>
          </a:p>
        </p:txBody>
      </p:sp>
      <p:sp>
        <p:nvSpPr>
          <p:cNvPr id="9" name="Text 7"/>
          <p:cNvSpPr/>
          <p:nvPr/>
        </p:nvSpPr>
        <p:spPr>
          <a:xfrm>
            <a:off x="685800" y="2971800"/>
            <a:ext cx="3337560" cy="822960"/>
          </a:xfrm>
          <a:prstGeom prst="rect">
            <a:avLst/>
          </a:prstGeom>
          <a:noFill/>
          <a:ln/>
        </p:spPr>
        <p:txBody>
          <a:bodyPr wrap="square" lIns="0" tIns="0" rIns="0" bIns="0" rtlCol="0" anchor="ctr"/>
          <a:lstStyle/>
          <a:p>
            <a:pPr indent="0" marL="0">
              <a:buNone/>
            </a:pPr>
            <a:r>
              <a:rPr lang="en-US" sz="3800" b="1" dirty="0">
                <a:solidFill>
                  <a:srgbClr val="DC2626"/>
                </a:solidFill>
                <a:latin typeface="Georgia" pitchFamily="34" charset="0"/>
                <a:ea typeface="Georgia" pitchFamily="34" charset="-122"/>
                <a:cs typeface="Georgia" pitchFamily="34" charset="-120"/>
              </a:rPr>
              <a:t>~5%</a:t>
            </a:r>
            <a:endParaRPr lang="en-US" sz="3800" dirty="0"/>
          </a:p>
        </p:txBody>
      </p:sp>
      <p:sp>
        <p:nvSpPr>
          <p:cNvPr id="10" name="Text 8"/>
          <p:cNvSpPr/>
          <p:nvPr/>
        </p:nvSpPr>
        <p:spPr>
          <a:xfrm>
            <a:off x="685800" y="3749040"/>
            <a:ext cx="333756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of testing population</a:t>
            </a:r>
            <a:endParaRPr lang="en-US" sz="1100" dirty="0"/>
          </a:p>
        </p:txBody>
      </p:sp>
      <p:sp>
        <p:nvSpPr>
          <p:cNvPr id="11" name="Text 9"/>
          <p:cNvSpPr/>
          <p:nvPr/>
        </p:nvSpPr>
        <p:spPr>
          <a:xfrm>
            <a:off x="685800" y="4114800"/>
            <a:ext cx="3337560" cy="12801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No redaction. Reserved for scenarios that genuinely need full PAN/PII — e.g. end-to-end PAN-driven reconciliation against network association files.</a:t>
            </a:r>
            <a:endParaRPr lang="en-US" sz="1100" dirty="0"/>
          </a:p>
        </p:txBody>
      </p:sp>
      <p:sp>
        <p:nvSpPr>
          <p:cNvPr id="12" name="Text 10"/>
          <p:cNvSpPr/>
          <p:nvPr/>
        </p:nvSpPr>
        <p:spPr>
          <a:xfrm>
            <a:off x="685800" y="5440680"/>
            <a:ext cx="3337560" cy="868680"/>
          </a:xfrm>
          <a:prstGeom prst="rect">
            <a:avLst/>
          </a:prstGeom>
          <a:noFill/>
          <a:ln/>
        </p:spPr>
        <p:txBody>
          <a:bodyPr wrap="square" lIns="0" tIns="0" rIns="0" bIns="0" rtlCol="0" anchor="t"/>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Same access as today</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GSA/Govt-cleared only</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US source IP enforced</a:t>
            </a:r>
            <a:endParaRPr lang="en-US" sz="1100" dirty="0"/>
          </a:p>
        </p:txBody>
      </p:sp>
      <p:sp>
        <p:nvSpPr>
          <p:cNvPr id="13" name="Shape 11"/>
          <p:cNvSpPr/>
          <p:nvPr/>
        </p:nvSpPr>
        <p:spPr>
          <a:xfrm>
            <a:off x="4343400" y="1828800"/>
            <a:ext cx="3794760" cy="4572000"/>
          </a:xfrm>
          <a:prstGeom prst="rect">
            <a:avLst/>
          </a:prstGeom>
          <a:solidFill>
            <a:srgbClr val="FFFFFF"/>
          </a:solidFill>
          <a:ln w="9525">
            <a:solidFill>
              <a:srgbClr val="E2E8F0"/>
            </a:solidFill>
            <a:prstDash val="solid"/>
          </a:ln>
        </p:spPr>
      </p:sp>
      <p:sp>
        <p:nvSpPr>
          <p:cNvPr id="14" name="Shape 12"/>
          <p:cNvSpPr/>
          <p:nvPr/>
        </p:nvSpPr>
        <p:spPr>
          <a:xfrm>
            <a:off x="4343400" y="1828800"/>
            <a:ext cx="3794760" cy="457200"/>
          </a:xfrm>
          <a:prstGeom prst="rect">
            <a:avLst/>
          </a:prstGeom>
          <a:solidFill>
            <a:srgbClr val="10B981"/>
          </a:solidFill>
          <a:ln w="12700">
            <a:solidFill>
              <a:srgbClr val="10B981"/>
            </a:solidFill>
            <a:prstDash val="solid"/>
          </a:ln>
        </p:spPr>
      </p:sp>
      <p:sp>
        <p:nvSpPr>
          <p:cNvPr id="15" name="Text 13"/>
          <p:cNvSpPr/>
          <p:nvPr/>
        </p:nvSpPr>
        <p:spPr>
          <a:xfrm>
            <a:off x="4343400" y="1892808"/>
            <a:ext cx="3794760" cy="320040"/>
          </a:xfrm>
          <a:prstGeom prst="rect">
            <a:avLst/>
          </a:prstGeom>
          <a:noFill/>
          <a:ln/>
        </p:spPr>
        <p:txBody>
          <a:bodyPr wrap="square" lIns="0" tIns="0" rIns="0" bIns="0" rtlCol="0" anchor="ctr"/>
          <a:lstStyle/>
          <a:p>
            <a:pPr algn="ctr" indent="0" marL="0">
              <a:buNone/>
            </a:pPr>
            <a:r>
              <a:rPr lang="en-US" sz="1100" b="1" spc="600" kern="0" dirty="0">
                <a:solidFill>
                  <a:srgbClr val="FFFFFF"/>
                </a:solidFill>
                <a:latin typeface="Calibri" pitchFamily="34" charset="0"/>
                <a:ea typeface="Calibri" pitchFamily="34" charset="-122"/>
                <a:cs typeface="Calibri" pitchFamily="34" charset="-120"/>
              </a:rPr>
              <a:t>TARGET</a:t>
            </a:r>
            <a:endParaRPr lang="en-US" sz="1100" dirty="0"/>
          </a:p>
        </p:txBody>
      </p:sp>
      <p:sp>
        <p:nvSpPr>
          <p:cNvPr id="16" name="Text 14"/>
          <p:cNvSpPr/>
          <p:nvPr/>
        </p:nvSpPr>
        <p:spPr>
          <a:xfrm>
            <a:off x="4572000" y="2468880"/>
            <a:ext cx="3337560" cy="457200"/>
          </a:xfrm>
          <a:prstGeom prst="rect">
            <a:avLst/>
          </a:prstGeom>
          <a:noFill/>
          <a:ln/>
        </p:spPr>
        <p:txBody>
          <a:bodyPr wrap="square" lIns="0" tIns="0" rIns="0" bIns="0" rtlCol="0" anchor="ctr"/>
          <a:lstStyle/>
          <a:p>
            <a:pPr indent="0" marL="0">
              <a:buNone/>
            </a:pPr>
            <a:r>
              <a:rPr lang="en-US" sz="1600" b="1" dirty="0">
                <a:solidFill>
                  <a:srgbClr val="1E2761"/>
                </a:solidFill>
                <a:latin typeface="Georgia" pitchFamily="34" charset="0"/>
                <a:ea typeface="Georgia" pitchFamily="34" charset="-122"/>
                <a:cs typeface="Georgia" pitchFamily="34" charset="-120"/>
              </a:rPr>
              <a:t>Functional testers (Global)</a:t>
            </a:r>
            <a:endParaRPr lang="en-US" sz="1600" dirty="0"/>
          </a:p>
        </p:txBody>
      </p:sp>
      <p:sp>
        <p:nvSpPr>
          <p:cNvPr id="17" name="Text 15"/>
          <p:cNvSpPr/>
          <p:nvPr/>
        </p:nvSpPr>
        <p:spPr>
          <a:xfrm>
            <a:off x="4572000" y="2971800"/>
            <a:ext cx="3337560" cy="822960"/>
          </a:xfrm>
          <a:prstGeom prst="rect">
            <a:avLst/>
          </a:prstGeom>
          <a:noFill/>
          <a:ln/>
        </p:spPr>
        <p:txBody>
          <a:bodyPr wrap="square" lIns="0" tIns="0" rIns="0" bIns="0" rtlCol="0" anchor="ctr"/>
          <a:lstStyle/>
          <a:p>
            <a:pPr indent="0" marL="0">
              <a:buNone/>
            </a:pPr>
            <a:r>
              <a:rPr lang="en-US" sz="3800" b="1" dirty="0">
                <a:solidFill>
                  <a:srgbClr val="10B981"/>
                </a:solidFill>
                <a:latin typeface="Georgia" pitchFamily="34" charset="0"/>
                <a:ea typeface="Georgia" pitchFamily="34" charset="-122"/>
                <a:cs typeface="Georgia" pitchFamily="34" charset="-120"/>
              </a:rPr>
              <a:t>~70–80%</a:t>
            </a:r>
            <a:endParaRPr lang="en-US" sz="3800" dirty="0"/>
          </a:p>
        </p:txBody>
      </p:sp>
      <p:sp>
        <p:nvSpPr>
          <p:cNvPr id="18" name="Text 16"/>
          <p:cNvSpPr/>
          <p:nvPr/>
        </p:nvSpPr>
        <p:spPr>
          <a:xfrm>
            <a:off x="4572000" y="3749040"/>
            <a:ext cx="333756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capacity unlocked</a:t>
            </a:r>
            <a:endParaRPr lang="en-US" sz="1100" dirty="0"/>
          </a:p>
        </p:txBody>
      </p:sp>
      <p:sp>
        <p:nvSpPr>
          <p:cNvPr id="19" name="Text 17"/>
          <p:cNvSpPr/>
          <p:nvPr/>
        </p:nvSpPr>
        <p:spPr>
          <a:xfrm>
            <a:off x="4572000" y="4114800"/>
            <a:ext cx="3337560" cy="12801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Partial redaction. PAN shown as 6+4 (BIN + last 4 visible), name regexp-masked, email/phone masked, address to city/country, DOB year only, SSN fully masked.</a:t>
            </a:r>
            <a:endParaRPr lang="en-US" sz="1100" dirty="0"/>
          </a:p>
        </p:txBody>
      </p:sp>
      <p:sp>
        <p:nvSpPr>
          <p:cNvPr id="20" name="Text 18"/>
          <p:cNvSpPr/>
          <p:nvPr/>
        </p:nvSpPr>
        <p:spPr>
          <a:xfrm>
            <a:off x="4572000" y="5440680"/>
            <a:ext cx="3337560" cy="868680"/>
          </a:xfrm>
          <a:prstGeom prst="rect">
            <a:avLst/>
          </a:prstGeom>
          <a:noFill/>
          <a:ln/>
        </p:spPr>
        <p:txBody>
          <a:bodyPr wrap="square" lIns="0" tIns="0" rIns="0" bIns="0" rtlCol="0" anchor="t"/>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Mexico · Chile · India testers onboarded</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Most functional coverage</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SQL access permitted, but redacted</a:t>
            </a:r>
            <a:endParaRPr lang="en-US" sz="1100" dirty="0"/>
          </a:p>
        </p:txBody>
      </p:sp>
      <p:sp>
        <p:nvSpPr>
          <p:cNvPr id="21" name="Shape 19"/>
          <p:cNvSpPr/>
          <p:nvPr/>
        </p:nvSpPr>
        <p:spPr>
          <a:xfrm>
            <a:off x="8229600" y="1828800"/>
            <a:ext cx="3794760" cy="4572000"/>
          </a:xfrm>
          <a:prstGeom prst="rect">
            <a:avLst/>
          </a:prstGeom>
          <a:solidFill>
            <a:srgbClr val="FFFFFF"/>
          </a:solidFill>
          <a:ln w="9525">
            <a:solidFill>
              <a:srgbClr val="E2E8F0"/>
            </a:solidFill>
            <a:prstDash val="solid"/>
          </a:ln>
        </p:spPr>
      </p:sp>
      <p:sp>
        <p:nvSpPr>
          <p:cNvPr id="22" name="Shape 20"/>
          <p:cNvSpPr/>
          <p:nvPr/>
        </p:nvSpPr>
        <p:spPr>
          <a:xfrm>
            <a:off x="8229600" y="1828800"/>
            <a:ext cx="3794760" cy="457200"/>
          </a:xfrm>
          <a:prstGeom prst="rect">
            <a:avLst/>
          </a:prstGeom>
          <a:solidFill>
            <a:srgbClr val="1E2761"/>
          </a:solidFill>
          <a:ln w="12700">
            <a:solidFill>
              <a:srgbClr val="1E2761"/>
            </a:solidFill>
            <a:prstDash val="solid"/>
          </a:ln>
        </p:spPr>
      </p:sp>
      <p:sp>
        <p:nvSpPr>
          <p:cNvPr id="23" name="Text 21"/>
          <p:cNvSpPr/>
          <p:nvPr/>
        </p:nvSpPr>
        <p:spPr>
          <a:xfrm>
            <a:off x="8229600" y="1892808"/>
            <a:ext cx="3794760" cy="320040"/>
          </a:xfrm>
          <a:prstGeom prst="rect">
            <a:avLst/>
          </a:prstGeom>
          <a:noFill/>
          <a:ln/>
        </p:spPr>
        <p:txBody>
          <a:bodyPr wrap="square" lIns="0" tIns="0" rIns="0" bIns="0" rtlCol="0" anchor="ctr"/>
          <a:lstStyle/>
          <a:p>
            <a:pPr algn="ctr" indent="0" marL="0">
              <a:buNone/>
            </a:pPr>
            <a:r>
              <a:rPr lang="en-US" sz="1100" b="1" spc="600" kern="0" dirty="0">
                <a:solidFill>
                  <a:srgbClr val="FFFFFF"/>
                </a:solidFill>
                <a:latin typeface="Calibri" pitchFamily="34" charset="0"/>
                <a:ea typeface="Calibri" pitchFamily="34" charset="-122"/>
                <a:cs typeface="Calibri" pitchFamily="34" charset="-120"/>
              </a:rPr>
              <a:t>HEAVY</a:t>
            </a:r>
            <a:endParaRPr lang="en-US" sz="1100" dirty="0"/>
          </a:p>
        </p:txBody>
      </p:sp>
      <p:sp>
        <p:nvSpPr>
          <p:cNvPr id="24" name="Text 22"/>
          <p:cNvSpPr/>
          <p:nvPr/>
        </p:nvSpPr>
        <p:spPr>
          <a:xfrm>
            <a:off x="8458200" y="2468880"/>
            <a:ext cx="3337560" cy="457200"/>
          </a:xfrm>
          <a:prstGeom prst="rect">
            <a:avLst/>
          </a:prstGeom>
          <a:noFill/>
          <a:ln/>
        </p:spPr>
        <p:txBody>
          <a:bodyPr wrap="square" lIns="0" tIns="0" rIns="0" bIns="0" rtlCol="0" anchor="ctr"/>
          <a:lstStyle/>
          <a:p>
            <a:pPr indent="0" marL="0">
              <a:buNone/>
            </a:pPr>
            <a:r>
              <a:rPr lang="en-US" sz="1600" b="1" dirty="0">
                <a:solidFill>
                  <a:srgbClr val="1E2761"/>
                </a:solidFill>
                <a:latin typeface="Georgia" pitchFamily="34" charset="0"/>
                <a:ea typeface="Georgia" pitchFamily="34" charset="-122"/>
                <a:cs typeface="Georgia" pitchFamily="34" charset="-120"/>
              </a:rPr>
              <a:t>Ad-hoc &amp; report consumers</a:t>
            </a:r>
            <a:endParaRPr lang="en-US" sz="1600" dirty="0"/>
          </a:p>
        </p:txBody>
      </p:sp>
      <p:sp>
        <p:nvSpPr>
          <p:cNvPr id="25" name="Text 23"/>
          <p:cNvSpPr/>
          <p:nvPr/>
        </p:nvSpPr>
        <p:spPr>
          <a:xfrm>
            <a:off x="8458200" y="2971800"/>
            <a:ext cx="3337560" cy="822960"/>
          </a:xfrm>
          <a:prstGeom prst="rect">
            <a:avLst/>
          </a:prstGeom>
          <a:noFill/>
          <a:ln/>
        </p:spPr>
        <p:txBody>
          <a:bodyPr wrap="square" lIns="0" tIns="0" rIns="0" bIns="0" rtlCol="0" anchor="ctr"/>
          <a:lstStyle/>
          <a:p>
            <a:pPr indent="0" marL="0">
              <a:buNone/>
            </a:pPr>
            <a:r>
              <a:rPr lang="en-US" sz="3800" b="1" dirty="0">
                <a:solidFill>
                  <a:srgbClr val="1E2761"/>
                </a:solidFill>
                <a:latin typeface="Georgia" pitchFamily="34" charset="0"/>
                <a:ea typeface="Georgia" pitchFamily="34" charset="-122"/>
                <a:cs typeface="Georgia" pitchFamily="34" charset="-120"/>
              </a:rPr>
              <a:t>Heavy</a:t>
            </a:r>
            <a:endParaRPr lang="en-US" sz="3800" dirty="0"/>
          </a:p>
        </p:txBody>
      </p:sp>
      <p:sp>
        <p:nvSpPr>
          <p:cNvPr id="26" name="Text 24"/>
          <p:cNvSpPr/>
          <p:nvPr/>
        </p:nvSpPr>
        <p:spPr>
          <a:xfrm>
            <a:off x="8458200" y="3749040"/>
            <a:ext cx="333756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redaction</a:t>
            </a:r>
            <a:endParaRPr lang="en-US" sz="1100" dirty="0"/>
          </a:p>
        </p:txBody>
      </p:sp>
      <p:sp>
        <p:nvSpPr>
          <p:cNvPr id="27" name="Text 25"/>
          <p:cNvSpPr/>
          <p:nvPr/>
        </p:nvSpPr>
        <p:spPr>
          <a:xfrm>
            <a:off x="8458200" y="4114800"/>
            <a:ext cx="3337560" cy="12801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FULL/NULLIFY on anything not strictly needed. For users who only need shape and structure of data, not values.</a:t>
            </a:r>
            <a:endParaRPr lang="en-US" sz="1100" dirty="0"/>
          </a:p>
        </p:txBody>
      </p:sp>
      <p:sp>
        <p:nvSpPr>
          <p:cNvPr id="28" name="Text 26"/>
          <p:cNvSpPr/>
          <p:nvPr/>
        </p:nvSpPr>
        <p:spPr>
          <a:xfrm>
            <a:off x="8458200" y="5440680"/>
            <a:ext cx="3337560" cy="868680"/>
          </a:xfrm>
          <a:prstGeom prst="rect">
            <a:avLst/>
          </a:prstGeom>
          <a:noFill/>
          <a:ln/>
        </p:spPr>
        <p:txBody>
          <a:bodyPr wrap="square" lIns="0" tIns="0" rIns="0" bIns="0" rtlCol="0" anchor="t"/>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Validation-only test cases</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Report/dashboard previewers</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Lowest residual risk</a:t>
            </a:r>
            <a:endParaRPr lang="en-US" sz="1100" dirty="0"/>
          </a:p>
        </p:txBody>
      </p:sp>
      <p:sp>
        <p:nvSpPr>
          <p:cNvPr id="29" name="Text 27"/>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Runtime Data Redaction in PTE  |  Commercial Cards QC Strategy</a:t>
            </a:r>
            <a:endParaRPr lang="en-US" sz="900" dirty="0"/>
          </a:p>
        </p:txBody>
      </p:sp>
      <p:sp>
        <p:nvSpPr>
          <p:cNvPr id="30" name="Text 28"/>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92608"/>
            <a:ext cx="11247120" cy="274320"/>
          </a:xfrm>
          <a:prstGeom prst="rect">
            <a:avLst/>
          </a:prstGeom>
          <a:noFill/>
          <a:ln/>
        </p:spPr>
        <p:txBody>
          <a:bodyPr wrap="square" lIns="0" tIns="0" rIns="0" bIns="0" rtlCol="0" anchor="ctr"/>
          <a:lstStyle/>
          <a:p>
            <a:pPr indent="0" marL="0">
              <a:buNone/>
            </a:pPr>
            <a:r>
              <a:rPr lang="en-US" sz="1100" b="1" spc="400" kern="0" dirty="0">
                <a:solidFill>
                  <a:srgbClr val="64748B"/>
                </a:solidFill>
                <a:latin typeface="Calibri" pitchFamily="34" charset="0"/>
                <a:ea typeface="Calibri" pitchFamily="34" charset="-122"/>
                <a:cs typeface="Calibri" pitchFamily="34" charset="-120"/>
              </a:rPr>
              <a:t>FLOW</a:t>
            </a:r>
            <a:endParaRPr lang="en-US" sz="1100"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How a single SELECT becomes a tier-aware response</a:t>
            </a:r>
            <a:endParaRPr lang="en-US" sz="2800" dirty="0"/>
          </a:p>
        </p:txBody>
      </p:sp>
      <p:sp>
        <p:nvSpPr>
          <p:cNvPr id="4" name="Text 2"/>
          <p:cNvSpPr/>
          <p:nvPr/>
        </p:nvSpPr>
        <p:spPr>
          <a:xfrm>
            <a:off x="457200" y="1280160"/>
            <a:ext cx="11247120" cy="36576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Five steps, all inside the database. The tester sees PROD-quality structure; values are filtered just before return.</a:t>
            </a:r>
            <a:endParaRPr lang="en-US" sz="1200" dirty="0"/>
          </a:p>
        </p:txBody>
      </p:sp>
      <p:sp>
        <p:nvSpPr>
          <p:cNvPr id="5" name="Shape 3"/>
          <p:cNvSpPr/>
          <p:nvPr/>
        </p:nvSpPr>
        <p:spPr>
          <a:xfrm>
            <a:off x="426568" y="1920240"/>
            <a:ext cx="2194560" cy="2103120"/>
          </a:xfrm>
          <a:prstGeom prst="rect">
            <a:avLst/>
          </a:prstGeom>
          <a:solidFill>
            <a:srgbClr val="FFFFFF"/>
          </a:solidFill>
          <a:ln w="9525">
            <a:solidFill>
              <a:srgbClr val="E2E8F0"/>
            </a:solidFill>
            <a:prstDash val="solid"/>
          </a:ln>
        </p:spPr>
      </p:sp>
      <p:sp>
        <p:nvSpPr>
          <p:cNvPr id="6" name="Shape 4"/>
          <p:cNvSpPr/>
          <p:nvPr/>
        </p:nvSpPr>
        <p:spPr>
          <a:xfrm>
            <a:off x="1249528" y="2103120"/>
            <a:ext cx="548640" cy="548640"/>
          </a:xfrm>
          <a:prstGeom prst="ellipse">
            <a:avLst/>
          </a:prstGeom>
          <a:solidFill>
            <a:srgbClr val="1E2761"/>
          </a:solidFill>
          <a:ln w="12700">
            <a:solidFill>
              <a:srgbClr val="1E2761"/>
            </a:solidFill>
            <a:prstDash val="solid"/>
          </a:ln>
        </p:spPr>
      </p:sp>
      <p:sp>
        <p:nvSpPr>
          <p:cNvPr id="7" name="Text 5"/>
          <p:cNvSpPr/>
          <p:nvPr/>
        </p:nvSpPr>
        <p:spPr>
          <a:xfrm>
            <a:off x="1249528" y="21214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8" name="Text 6"/>
          <p:cNvSpPr/>
          <p:nvPr/>
        </p:nvSpPr>
        <p:spPr>
          <a:xfrm>
            <a:off x="518008" y="2788920"/>
            <a:ext cx="2011680" cy="50292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Tester connects</a:t>
            </a:r>
            <a:endParaRPr lang="en-US" sz="1200" dirty="0"/>
          </a:p>
        </p:txBody>
      </p:sp>
      <p:sp>
        <p:nvSpPr>
          <p:cNvPr id="9" name="Text 7"/>
          <p:cNvSpPr/>
          <p:nvPr/>
        </p:nvSpPr>
        <p:spPr>
          <a:xfrm>
            <a:off x="563728" y="3291840"/>
            <a:ext cx="1920240" cy="685800"/>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From Chile/India/MX laptop via app or sqlplus through bastion.</a:t>
            </a:r>
            <a:endParaRPr lang="en-US" sz="1050" dirty="0"/>
          </a:p>
        </p:txBody>
      </p:sp>
      <p:pic>
        <p:nvPicPr>
          <p:cNvPr id="10" name="Image 0" descr="preencoded.png">    </p:cNvPr>
          <p:cNvPicPr>
            <a:picLocks noChangeAspect="1"/>
          </p:cNvPicPr>
          <p:nvPr/>
        </p:nvPicPr>
        <p:blipFill>
          <a:blip r:embed="rId1"/>
          <a:stretch>
            <a:fillRect/>
          </a:stretch>
        </p:blipFill>
        <p:spPr>
          <a:xfrm>
            <a:off x="2625700" y="2880360"/>
            <a:ext cx="82296" cy="182880"/>
          </a:xfrm>
          <a:prstGeom prst="rect">
            <a:avLst/>
          </a:prstGeom>
        </p:spPr>
      </p:pic>
      <p:sp>
        <p:nvSpPr>
          <p:cNvPr id="11" name="Shape 8"/>
          <p:cNvSpPr/>
          <p:nvPr/>
        </p:nvSpPr>
        <p:spPr>
          <a:xfrm>
            <a:off x="2712568" y="1920240"/>
            <a:ext cx="2194560" cy="2103120"/>
          </a:xfrm>
          <a:prstGeom prst="rect">
            <a:avLst/>
          </a:prstGeom>
          <a:solidFill>
            <a:srgbClr val="FFFFFF"/>
          </a:solidFill>
          <a:ln w="9525">
            <a:solidFill>
              <a:srgbClr val="E2E8F0"/>
            </a:solidFill>
            <a:prstDash val="solid"/>
          </a:ln>
        </p:spPr>
      </p:sp>
      <p:sp>
        <p:nvSpPr>
          <p:cNvPr id="12" name="Shape 9"/>
          <p:cNvSpPr/>
          <p:nvPr/>
        </p:nvSpPr>
        <p:spPr>
          <a:xfrm>
            <a:off x="3535528" y="2103120"/>
            <a:ext cx="548640" cy="548640"/>
          </a:xfrm>
          <a:prstGeom prst="ellipse">
            <a:avLst/>
          </a:prstGeom>
          <a:solidFill>
            <a:srgbClr val="1E2761"/>
          </a:solidFill>
          <a:ln w="12700">
            <a:solidFill>
              <a:srgbClr val="1E2761"/>
            </a:solidFill>
            <a:prstDash val="solid"/>
          </a:ln>
        </p:spPr>
      </p:sp>
      <p:sp>
        <p:nvSpPr>
          <p:cNvPr id="13" name="Text 10"/>
          <p:cNvSpPr/>
          <p:nvPr/>
        </p:nvSpPr>
        <p:spPr>
          <a:xfrm>
            <a:off x="3535528" y="21214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4" name="Text 11"/>
          <p:cNvSpPr/>
          <p:nvPr/>
        </p:nvSpPr>
        <p:spPr>
          <a:xfrm>
            <a:off x="2804008" y="2788920"/>
            <a:ext cx="2011680" cy="50292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BEFORE LOGON trigger fires</a:t>
            </a:r>
            <a:endParaRPr lang="en-US" sz="1200" dirty="0"/>
          </a:p>
        </p:txBody>
      </p:sp>
      <p:sp>
        <p:nvSpPr>
          <p:cNvPr id="15" name="Text 12"/>
          <p:cNvSpPr/>
          <p:nvPr/>
        </p:nvSpPr>
        <p:spPr>
          <a:xfrm>
            <a:off x="2849728" y="3291840"/>
            <a:ext cx="1920240" cy="685800"/>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Reads SESSION_USER, IP, OS user, program, proxy chain.</a:t>
            </a:r>
            <a:endParaRPr lang="en-US" sz="1050" dirty="0"/>
          </a:p>
        </p:txBody>
      </p:sp>
      <p:pic>
        <p:nvPicPr>
          <p:cNvPr id="16" name="Image 1" descr="preencoded.png">    </p:cNvPr>
          <p:cNvPicPr>
            <a:picLocks noChangeAspect="1"/>
          </p:cNvPicPr>
          <p:nvPr/>
        </p:nvPicPr>
        <p:blipFill>
          <a:blip r:embed="rId2"/>
          <a:stretch>
            <a:fillRect/>
          </a:stretch>
        </p:blipFill>
        <p:spPr>
          <a:xfrm>
            <a:off x="4911700" y="2880360"/>
            <a:ext cx="82296" cy="182880"/>
          </a:xfrm>
          <a:prstGeom prst="rect">
            <a:avLst/>
          </a:prstGeom>
        </p:spPr>
      </p:pic>
      <p:sp>
        <p:nvSpPr>
          <p:cNvPr id="17" name="Shape 13"/>
          <p:cNvSpPr/>
          <p:nvPr/>
        </p:nvSpPr>
        <p:spPr>
          <a:xfrm>
            <a:off x="4998568" y="1920240"/>
            <a:ext cx="2194560" cy="2103120"/>
          </a:xfrm>
          <a:prstGeom prst="rect">
            <a:avLst/>
          </a:prstGeom>
          <a:solidFill>
            <a:srgbClr val="FFFFFF"/>
          </a:solidFill>
          <a:ln w="9525">
            <a:solidFill>
              <a:srgbClr val="E2E8F0"/>
            </a:solidFill>
            <a:prstDash val="solid"/>
          </a:ln>
        </p:spPr>
      </p:sp>
      <p:sp>
        <p:nvSpPr>
          <p:cNvPr id="18" name="Shape 14"/>
          <p:cNvSpPr/>
          <p:nvPr/>
        </p:nvSpPr>
        <p:spPr>
          <a:xfrm>
            <a:off x="5821528" y="2103120"/>
            <a:ext cx="548640" cy="548640"/>
          </a:xfrm>
          <a:prstGeom prst="ellipse">
            <a:avLst/>
          </a:prstGeom>
          <a:solidFill>
            <a:srgbClr val="1E2761"/>
          </a:solidFill>
          <a:ln w="12700">
            <a:solidFill>
              <a:srgbClr val="1E2761"/>
            </a:solidFill>
            <a:prstDash val="solid"/>
          </a:ln>
        </p:spPr>
      </p:sp>
      <p:sp>
        <p:nvSpPr>
          <p:cNvPr id="19" name="Text 15"/>
          <p:cNvSpPr/>
          <p:nvPr/>
        </p:nvSpPr>
        <p:spPr>
          <a:xfrm>
            <a:off x="5821528" y="21214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20" name="Text 16"/>
          <p:cNvSpPr/>
          <p:nvPr/>
        </p:nvSpPr>
        <p:spPr>
          <a:xfrm>
            <a:off x="5090008" y="2788920"/>
            <a:ext cx="2011680" cy="50292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Tier resolved &amp; set</a:t>
            </a:r>
            <a:endParaRPr lang="en-US" sz="1200" dirty="0"/>
          </a:p>
        </p:txBody>
      </p:sp>
      <p:sp>
        <p:nvSpPr>
          <p:cNvPr id="21" name="Text 17"/>
          <p:cNvSpPr/>
          <p:nvPr/>
        </p:nvSpPr>
        <p:spPr>
          <a:xfrm>
            <a:off x="5135728" y="3291840"/>
            <a:ext cx="1920240" cy="685800"/>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Lookup → TEST_ACCESS_CTX('tier'='GLOBAL_FUNC').</a:t>
            </a:r>
            <a:endParaRPr lang="en-US" sz="1050" dirty="0"/>
          </a:p>
        </p:txBody>
      </p:sp>
      <p:pic>
        <p:nvPicPr>
          <p:cNvPr id="22" name="Image 2" descr="preencoded.png">    </p:cNvPr>
          <p:cNvPicPr>
            <a:picLocks noChangeAspect="1"/>
          </p:cNvPicPr>
          <p:nvPr/>
        </p:nvPicPr>
        <p:blipFill>
          <a:blip r:embed="rId3"/>
          <a:stretch>
            <a:fillRect/>
          </a:stretch>
        </p:blipFill>
        <p:spPr>
          <a:xfrm>
            <a:off x="7197700" y="2880360"/>
            <a:ext cx="82296" cy="182880"/>
          </a:xfrm>
          <a:prstGeom prst="rect">
            <a:avLst/>
          </a:prstGeom>
        </p:spPr>
      </p:pic>
      <p:sp>
        <p:nvSpPr>
          <p:cNvPr id="23" name="Shape 18"/>
          <p:cNvSpPr/>
          <p:nvPr/>
        </p:nvSpPr>
        <p:spPr>
          <a:xfrm>
            <a:off x="7284568" y="1920240"/>
            <a:ext cx="2194560" cy="2103120"/>
          </a:xfrm>
          <a:prstGeom prst="rect">
            <a:avLst/>
          </a:prstGeom>
          <a:solidFill>
            <a:srgbClr val="FFFFFF"/>
          </a:solidFill>
          <a:ln w="9525">
            <a:solidFill>
              <a:srgbClr val="E2E8F0"/>
            </a:solidFill>
            <a:prstDash val="solid"/>
          </a:ln>
        </p:spPr>
      </p:sp>
      <p:sp>
        <p:nvSpPr>
          <p:cNvPr id="24" name="Shape 19"/>
          <p:cNvSpPr/>
          <p:nvPr/>
        </p:nvSpPr>
        <p:spPr>
          <a:xfrm>
            <a:off x="8107528" y="2103120"/>
            <a:ext cx="548640" cy="548640"/>
          </a:xfrm>
          <a:prstGeom prst="ellipse">
            <a:avLst/>
          </a:prstGeom>
          <a:solidFill>
            <a:srgbClr val="1E2761"/>
          </a:solidFill>
          <a:ln w="12700">
            <a:solidFill>
              <a:srgbClr val="1E2761"/>
            </a:solidFill>
            <a:prstDash val="solid"/>
          </a:ln>
        </p:spPr>
      </p:sp>
      <p:sp>
        <p:nvSpPr>
          <p:cNvPr id="25" name="Text 20"/>
          <p:cNvSpPr/>
          <p:nvPr/>
        </p:nvSpPr>
        <p:spPr>
          <a:xfrm>
            <a:off x="8107528" y="21214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26" name="Text 21"/>
          <p:cNvSpPr/>
          <p:nvPr/>
        </p:nvSpPr>
        <p:spPr>
          <a:xfrm>
            <a:off x="7376008" y="2788920"/>
            <a:ext cx="2011680" cy="50292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SELECT executes normally</a:t>
            </a:r>
            <a:endParaRPr lang="en-US" sz="1200" dirty="0"/>
          </a:p>
        </p:txBody>
      </p:sp>
      <p:sp>
        <p:nvSpPr>
          <p:cNvPr id="27" name="Text 22"/>
          <p:cNvSpPr/>
          <p:nvPr/>
        </p:nvSpPr>
        <p:spPr>
          <a:xfrm>
            <a:off x="7421728" y="3291840"/>
            <a:ext cx="1920240" cy="685800"/>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Optimizer/indexes see real values. No plan change.</a:t>
            </a:r>
            <a:endParaRPr lang="en-US" sz="1050" dirty="0"/>
          </a:p>
        </p:txBody>
      </p:sp>
      <p:pic>
        <p:nvPicPr>
          <p:cNvPr id="28" name="Image 3" descr="preencoded.png">    </p:cNvPr>
          <p:cNvPicPr>
            <a:picLocks noChangeAspect="1"/>
          </p:cNvPicPr>
          <p:nvPr/>
        </p:nvPicPr>
        <p:blipFill>
          <a:blip r:embed="rId4"/>
          <a:stretch>
            <a:fillRect/>
          </a:stretch>
        </p:blipFill>
        <p:spPr>
          <a:xfrm>
            <a:off x="9483700" y="2880360"/>
            <a:ext cx="82296" cy="182880"/>
          </a:xfrm>
          <a:prstGeom prst="rect">
            <a:avLst/>
          </a:prstGeom>
        </p:spPr>
      </p:pic>
      <p:sp>
        <p:nvSpPr>
          <p:cNvPr id="29" name="Shape 23"/>
          <p:cNvSpPr/>
          <p:nvPr/>
        </p:nvSpPr>
        <p:spPr>
          <a:xfrm>
            <a:off x="9570568" y="1920240"/>
            <a:ext cx="2194560" cy="2103120"/>
          </a:xfrm>
          <a:prstGeom prst="rect">
            <a:avLst/>
          </a:prstGeom>
          <a:solidFill>
            <a:srgbClr val="FFFFFF"/>
          </a:solidFill>
          <a:ln w="9525">
            <a:solidFill>
              <a:srgbClr val="E2E8F0"/>
            </a:solidFill>
            <a:prstDash val="solid"/>
          </a:ln>
        </p:spPr>
      </p:sp>
      <p:sp>
        <p:nvSpPr>
          <p:cNvPr id="30" name="Shape 24"/>
          <p:cNvSpPr/>
          <p:nvPr/>
        </p:nvSpPr>
        <p:spPr>
          <a:xfrm>
            <a:off x="10393528" y="2103120"/>
            <a:ext cx="548640" cy="548640"/>
          </a:xfrm>
          <a:prstGeom prst="ellipse">
            <a:avLst/>
          </a:prstGeom>
          <a:solidFill>
            <a:srgbClr val="1E2761"/>
          </a:solidFill>
          <a:ln w="12700">
            <a:solidFill>
              <a:srgbClr val="1E2761"/>
            </a:solidFill>
            <a:prstDash val="solid"/>
          </a:ln>
        </p:spPr>
      </p:sp>
      <p:sp>
        <p:nvSpPr>
          <p:cNvPr id="31" name="Text 25"/>
          <p:cNvSpPr/>
          <p:nvPr/>
        </p:nvSpPr>
        <p:spPr>
          <a:xfrm>
            <a:off x="10393528" y="21214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5</a:t>
            </a:r>
            <a:endParaRPr lang="en-US" sz="2000" dirty="0"/>
          </a:p>
        </p:txBody>
      </p:sp>
      <p:sp>
        <p:nvSpPr>
          <p:cNvPr id="32" name="Text 26"/>
          <p:cNvSpPr/>
          <p:nvPr/>
        </p:nvSpPr>
        <p:spPr>
          <a:xfrm>
            <a:off x="9662008" y="2788920"/>
            <a:ext cx="2011680" cy="50292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Redaction applies on return</a:t>
            </a:r>
            <a:endParaRPr lang="en-US" sz="1200" dirty="0"/>
          </a:p>
        </p:txBody>
      </p:sp>
      <p:sp>
        <p:nvSpPr>
          <p:cNvPr id="33" name="Text 27"/>
          <p:cNvSpPr/>
          <p:nvPr/>
        </p:nvSpPr>
        <p:spPr>
          <a:xfrm>
            <a:off x="9707728" y="3291840"/>
            <a:ext cx="1920240" cy="685800"/>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Per-column policy reads context; values are masked.</a:t>
            </a:r>
            <a:endParaRPr lang="en-US" sz="1050" dirty="0"/>
          </a:p>
        </p:txBody>
      </p:sp>
      <p:sp>
        <p:nvSpPr>
          <p:cNvPr id="34" name="Shape 28"/>
          <p:cNvSpPr/>
          <p:nvPr/>
        </p:nvSpPr>
        <p:spPr>
          <a:xfrm>
            <a:off x="457200" y="4389120"/>
            <a:ext cx="11247120" cy="1783080"/>
          </a:xfrm>
          <a:prstGeom prst="rect">
            <a:avLst/>
          </a:prstGeom>
          <a:solidFill>
            <a:srgbClr val="1E2761"/>
          </a:solidFill>
          <a:ln w="12700">
            <a:solidFill>
              <a:srgbClr val="1E2761"/>
            </a:solidFill>
            <a:prstDash val="solid"/>
          </a:ln>
        </p:spPr>
      </p:sp>
      <p:sp>
        <p:nvSpPr>
          <p:cNvPr id="35" name="Text 29"/>
          <p:cNvSpPr/>
          <p:nvPr/>
        </p:nvSpPr>
        <p:spPr>
          <a:xfrm>
            <a:off x="685800" y="4526280"/>
            <a:ext cx="10972800" cy="274320"/>
          </a:xfrm>
          <a:prstGeom prst="rect">
            <a:avLst/>
          </a:prstGeom>
          <a:noFill/>
          <a:ln/>
        </p:spPr>
        <p:txBody>
          <a:bodyPr wrap="square" lIns="0" tIns="0" rIns="0" bIns="0" rtlCol="0" anchor="ctr"/>
          <a:lstStyle/>
          <a:p>
            <a:pPr indent="0" marL="0">
              <a:buNone/>
            </a:pPr>
            <a:r>
              <a:rPr lang="en-US" sz="1100" b="1" spc="400" kern="0" dirty="0">
                <a:solidFill>
                  <a:srgbClr val="CADCFC"/>
                </a:solidFill>
                <a:latin typeface="Calibri" pitchFamily="34" charset="0"/>
                <a:ea typeface="Calibri" pitchFamily="34" charset="-122"/>
                <a:cs typeface="Calibri" pitchFamily="34" charset="-120"/>
              </a:rPr>
              <a:t>WHAT THE TESTER ACTUALLY SEES</a:t>
            </a:r>
            <a:endParaRPr lang="en-US" sz="1100" dirty="0"/>
          </a:p>
        </p:txBody>
      </p:sp>
      <p:sp>
        <p:nvSpPr>
          <p:cNvPr id="36" name="Shape 30"/>
          <p:cNvSpPr/>
          <p:nvPr/>
        </p:nvSpPr>
        <p:spPr>
          <a:xfrm>
            <a:off x="685800" y="4846320"/>
            <a:ext cx="5394960" cy="1234440"/>
          </a:xfrm>
          <a:prstGeom prst="rect">
            <a:avLst/>
          </a:prstGeom>
          <a:solidFill>
            <a:srgbClr val="0F1838"/>
          </a:solidFill>
          <a:ln w="12700">
            <a:solidFill>
              <a:srgbClr val="0F1838"/>
            </a:solidFill>
            <a:prstDash val="solid"/>
          </a:ln>
        </p:spPr>
      </p:sp>
      <p:sp>
        <p:nvSpPr>
          <p:cNvPr id="37" name="Text 31"/>
          <p:cNvSpPr/>
          <p:nvPr/>
        </p:nvSpPr>
        <p:spPr>
          <a:xfrm>
            <a:off x="868680" y="4937760"/>
            <a:ext cx="5029200" cy="274320"/>
          </a:xfrm>
          <a:prstGeom prst="rect">
            <a:avLst/>
          </a:prstGeom>
          <a:noFill/>
          <a:ln/>
        </p:spPr>
        <p:txBody>
          <a:bodyPr wrap="square" lIns="0" tIns="0" rIns="0" bIns="0" rtlCol="0" anchor="ctr"/>
          <a:lstStyle/>
          <a:p>
            <a:pPr indent="0" marL="0">
              <a:buNone/>
            </a:pPr>
            <a:r>
              <a:rPr lang="en-US" sz="1100" b="1" dirty="0">
                <a:solidFill>
                  <a:srgbClr val="CADCFC"/>
                </a:solidFill>
                <a:latin typeface="Calibri" pitchFamily="34" charset="0"/>
                <a:ea typeface="Calibri" pitchFamily="34" charset="-122"/>
                <a:cs typeface="Calibri" pitchFamily="34" charset="-120"/>
              </a:rPr>
              <a:t>Cleared US tester</a:t>
            </a:r>
            <a:endParaRPr lang="en-US" sz="1100" dirty="0"/>
          </a:p>
        </p:txBody>
      </p:sp>
      <p:sp>
        <p:nvSpPr>
          <p:cNvPr id="38" name="Text 32"/>
          <p:cNvSpPr/>
          <p:nvPr/>
        </p:nvSpPr>
        <p:spPr>
          <a:xfrm>
            <a:off x="868680" y="5212080"/>
            <a:ext cx="5029200" cy="868680"/>
          </a:xfrm>
          <a:prstGeom prst="rect">
            <a:avLst/>
          </a:prstGeom>
          <a:noFill/>
          <a:ln/>
        </p:spPr>
        <p:txBody>
          <a:bodyPr wrap="square" lIns="0" tIns="0" rIns="0" bIns="0" rtlCol="0" anchor="ctr"/>
          <a:lstStyle/>
          <a:p>
            <a:pPr indent="0" marL="0">
              <a:buNone/>
            </a:pPr>
            <a:r>
              <a:rPr lang="en-US" sz="1200" dirty="0">
                <a:solidFill>
                  <a:srgbClr val="94A3B8"/>
                </a:solidFill>
                <a:latin typeface="Consolas" pitchFamily="34" charset="0"/>
                <a:ea typeface="Consolas" pitchFamily="34" charset="-122"/>
                <a:cs typeface="Consolas" pitchFamily="34" charset="-120"/>
              </a:rPr>
              <a:t>PAN:   </a:t>
            </a:r>
            <a:pPr indent="0" marL="0">
              <a:buNone/>
            </a:pPr>
            <a:r>
              <a:rPr lang="en-US" sz="1200" b="1" dirty="0">
                <a:solidFill>
                  <a:srgbClr val="FFFFFF"/>
                </a:solidFill>
                <a:latin typeface="Consolas" pitchFamily="34" charset="0"/>
                <a:ea typeface="Consolas" pitchFamily="34" charset="-122"/>
                <a:cs typeface="Consolas" pitchFamily="34" charset="-120"/>
              </a:rPr>
              <a:t>4532 1029 3847 6611</a:t>
            </a:r>
            <a:endParaRPr lang="en-US" sz="1200" dirty="0"/>
          </a:p>
          <a:p>
            <a:pPr indent="0" marL="0">
              <a:buNone/>
            </a:pPr>
            <a:r>
              <a:rPr lang="en-US" sz="1200" dirty="0">
                <a:solidFill>
                  <a:srgbClr val="94A3B8"/>
                </a:solidFill>
                <a:latin typeface="Consolas" pitchFamily="34" charset="0"/>
                <a:ea typeface="Consolas" pitchFamily="34" charset="-122"/>
                <a:cs typeface="Consolas" pitchFamily="34" charset="-120"/>
              </a:rPr>
              <a:t>NAME:  </a:t>
            </a:r>
            <a:pPr indent="0" marL="0">
              <a:buNone/>
            </a:pPr>
            <a:r>
              <a:rPr lang="en-US" sz="1200" b="1" dirty="0">
                <a:solidFill>
                  <a:srgbClr val="FFFFFF"/>
                </a:solidFill>
                <a:latin typeface="Consolas" pitchFamily="34" charset="0"/>
                <a:ea typeface="Consolas" pitchFamily="34" charset="-122"/>
                <a:cs typeface="Consolas" pitchFamily="34" charset="-120"/>
              </a:rPr>
              <a:t>MARIA J GARCIA</a:t>
            </a:r>
            <a:endParaRPr lang="en-US" sz="1200" dirty="0"/>
          </a:p>
          <a:p>
            <a:pPr indent="0" marL="0">
              <a:buNone/>
            </a:pPr>
            <a:r>
              <a:rPr lang="en-US" sz="1200" dirty="0">
                <a:solidFill>
                  <a:srgbClr val="94A3B8"/>
                </a:solidFill>
                <a:latin typeface="Consolas" pitchFamily="34" charset="0"/>
                <a:ea typeface="Consolas" pitchFamily="34" charset="-122"/>
                <a:cs typeface="Consolas" pitchFamily="34" charset="-120"/>
              </a:rPr>
              <a:t>DOB:   </a:t>
            </a:r>
            <a:pPr indent="0" marL="0">
              <a:buNone/>
            </a:pPr>
            <a:r>
              <a:rPr lang="en-US" sz="1200" b="1" dirty="0">
                <a:solidFill>
                  <a:srgbClr val="FFFFFF"/>
                </a:solidFill>
                <a:latin typeface="Consolas" pitchFamily="34" charset="0"/>
                <a:ea typeface="Consolas" pitchFamily="34" charset="-122"/>
                <a:cs typeface="Consolas" pitchFamily="34" charset="-120"/>
              </a:rPr>
              <a:t>1982-04-17</a:t>
            </a:r>
            <a:endParaRPr lang="en-US" sz="1200" dirty="0"/>
          </a:p>
        </p:txBody>
      </p:sp>
      <p:sp>
        <p:nvSpPr>
          <p:cNvPr id="39" name="Shape 33"/>
          <p:cNvSpPr/>
          <p:nvPr/>
        </p:nvSpPr>
        <p:spPr>
          <a:xfrm>
            <a:off x="6263640" y="4846320"/>
            <a:ext cx="5394960" cy="1234440"/>
          </a:xfrm>
          <a:prstGeom prst="rect">
            <a:avLst/>
          </a:prstGeom>
          <a:solidFill>
            <a:srgbClr val="0F1838"/>
          </a:solidFill>
          <a:ln w="12700">
            <a:solidFill>
              <a:srgbClr val="0F1838"/>
            </a:solidFill>
            <a:prstDash val="solid"/>
          </a:ln>
        </p:spPr>
      </p:sp>
      <p:sp>
        <p:nvSpPr>
          <p:cNvPr id="40" name="Text 34"/>
          <p:cNvSpPr/>
          <p:nvPr/>
        </p:nvSpPr>
        <p:spPr>
          <a:xfrm>
            <a:off x="6446520" y="4937760"/>
            <a:ext cx="5029200" cy="274320"/>
          </a:xfrm>
          <a:prstGeom prst="rect">
            <a:avLst/>
          </a:prstGeom>
          <a:noFill/>
          <a:ln/>
        </p:spPr>
        <p:txBody>
          <a:bodyPr wrap="square" lIns="0" tIns="0" rIns="0" bIns="0"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Global functional tester (redacted)</a:t>
            </a:r>
            <a:endParaRPr lang="en-US" sz="1100" dirty="0"/>
          </a:p>
        </p:txBody>
      </p:sp>
      <p:sp>
        <p:nvSpPr>
          <p:cNvPr id="41" name="Text 35"/>
          <p:cNvSpPr/>
          <p:nvPr/>
        </p:nvSpPr>
        <p:spPr>
          <a:xfrm>
            <a:off x="6446520" y="5212080"/>
            <a:ext cx="5029200" cy="868680"/>
          </a:xfrm>
          <a:prstGeom prst="rect">
            <a:avLst/>
          </a:prstGeom>
          <a:noFill/>
          <a:ln/>
        </p:spPr>
        <p:txBody>
          <a:bodyPr wrap="square" lIns="0" tIns="0" rIns="0" bIns="0" rtlCol="0" anchor="ctr"/>
          <a:lstStyle/>
          <a:p>
            <a:pPr indent="0" marL="0">
              <a:buNone/>
            </a:pPr>
            <a:r>
              <a:rPr lang="en-US" sz="1200" dirty="0">
                <a:solidFill>
                  <a:srgbClr val="94A3B8"/>
                </a:solidFill>
                <a:latin typeface="Consolas" pitchFamily="34" charset="0"/>
                <a:ea typeface="Consolas" pitchFamily="34" charset="-122"/>
                <a:cs typeface="Consolas" pitchFamily="34" charset="-120"/>
              </a:rPr>
              <a:t>PAN:   </a:t>
            </a:r>
            <a:pPr indent="0" marL="0">
              <a:buNone/>
            </a:pPr>
            <a:r>
              <a:rPr lang="en-US" sz="1200" b="1" dirty="0">
                <a:solidFill>
                  <a:srgbClr val="FFFFFF"/>
                </a:solidFill>
                <a:latin typeface="Consolas" pitchFamily="34" charset="0"/>
                <a:ea typeface="Consolas" pitchFamily="34" charset="-122"/>
                <a:cs typeface="Consolas" pitchFamily="34" charset="-120"/>
              </a:rPr>
              <a:t>453210 ****** 6611</a:t>
            </a:r>
            <a:endParaRPr lang="en-US" sz="1200" dirty="0"/>
          </a:p>
          <a:p>
            <a:pPr indent="0" marL="0">
              <a:buNone/>
            </a:pPr>
            <a:r>
              <a:rPr lang="en-US" sz="1200" dirty="0">
                <a:solidFill>
                  <a:srgbClr val="94A3B8"/>
                </a:solidFill>
                <a:latin typeface="Consolas" pitchFamily="34" charset="0"/>
                <a:ea typeface="Consolas" pitchFamily="34" charset="-122"/>
                <a:cs typeface="Consolas" pitchFamily="34" charset="-120"/>
              </a:rPr>
              <a:t>NAME:  </a:t>
            </a:r>
            <a:pPr indent="0" marL="0">
              <a:buNone/>
            </a:pPr>
            <a:r>
              <a:rPr lang="en-US" sz="1200" b="1" dirty="0">
                <a:solidFill>
                  <a:srgbClr val="FFFFFF"/>
                </a:solidFill>
                <a:latin typeface="Consolas" pitchFamily="34" charset="0"/>
                <a:ea typeface="Consolas" pitchFamily="34" charset="-122"/>
                <a:cs typeface="Consolas" pitchFamily="34" charset="-120"/>
              </a:rPr>
              <a:t>M*** *  G*****</a:t>
            </a:r>
            <a:endParaRPr lang="en-US" sz="1200" dirty="0"/>
          </a:p>
          <a:p>
            <a:pPr indent="0" marL="0">
              <a:buNone/>
            </a:pPr>
            <a:r>
              <a:rPr lang="en-US" sz="1200" dirty="0">
                <a:solidFill>
                  <a:srgbClr val="94A3B8"/>
                </a:solidFill>
                <a:latin typeface="Consolas" pitchFamily="34" charset="0"/>
                <a:ea typeface="Consolas" pitchFamily="34" charset="-122"/>
                <a:cs typeface="Consolas" pitchFamily="34" charset="-120"/>
              </a:rPr>
              <a:t>DOB:   </a:t>
            </a:r>
            <a:pPr indent="0" marL="0">
              <a:buNone/>
            </a:pPr>
            <a:r>
              <a:rPr lang="en-US" sz="1200" b="1" dirty="0">
                <a:solidFill>
                  <a:srgbClr val="FFFFFF"/>
                </a:solidFill>
                <a:latin typeface="Consolas" pitchFamily="34" charset="0"/>
                <a:ea typeface="Consolas" pitchFamily="34" charset="-122"/>
                <a:cs typeface="Consolas" pitchFamily="34" charset="-120"/>
              </a:rPr>
              <a:t>1982-XX-XX</a:t>
            </a:r>
            <a:endParaRPr lang="en-US" sz="1200" dirty="0"/>
          </a:p>
        </p:txBody>
      </p:sp>
      <p:sp>
        <p:nvSpPr>
          <p:cNvPr id="42" name="Text 36"/>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Runtime Data Redaction in PTE  |  Commercial Cards QC Strategy</a:t>
            </a:r>
            <a:endParaRPr lang="en-US" sz="900" dirty="0"/>
          </a:p>
        </p:txBody>
      </p:sp>
      <p:sp>
        <p:nvSpPr>
          <p:cNvPr id="43" name="Text 37"/>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92608"/>
            <a:ext cx="11247120" cy="274320"/>
          </a:xfrm>
          <a:prstGeom prst="rect">
            <a:avLst/>
          </a:prstGeom>
          <a:noFill/>
          <a:ln/>
        </p:spPr>
        <p:txBody>
          <a:bodyPr wrap="square" lIns="0" tIns="0" rIns="0" bIns="0" rtlCol="0" anchor="ctr"/>
          <a:lstStyle/>
          <a:p>
            <a:pPr indent="0" marL="0">
              <a:buNone/>
            </a:pPr>
            <a:r>
              <a:rPr lang="en-US" sz="1100" b="1" spc="400" kern="0" dirty="0">
                <a:solidFill>
                  <a:srgbClr val="64748B"/>
                </a:solidFill>
                <a:latin typeface="Calibri" pitchFamily="34" charset="0"/>
                <a:ea typeface="Calibri" pitchFamily="34" charset="-122"/>
                <a:cs typeface="Calibri" pitchFamily="34" charset="-120"/>
              </a:rPr>
              <a:t>INTEGRATION</a:t>
            </a:r>
            <a:endParaRPr lang="en-US" sz="1100"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The non-tester access paths matter just as much</a:t>
            </a:r>
            <a:endParaRPr lang="en-US" sz="2800" dirty="0"/>
          </a:p>
        </p:txBody>
      </p:sp>
      <p:sp>
        <p:nvSpPr>
          <p:cNvPr id="4" name="Text 2"/>
          <p:cNvSpPr/>
          <p:nvPr/>
        </p:nvSpPr>
        <p:spPr>
          <a:xfrm>
            <a:off x="457200" y="1280160"/>
            <a:ext cx="11247120" cy="36576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Redaction projects fail in production not because of users — but because of the service accounts, batch jobs, and file outputs that surround them.</a:t>
            </a:r>
            <a:endParaRPr lang="en-US" sz="1200" dirty="0"/>
          </a:p>
        </p:txBody>
      </p:sp>
      <p:sp>
        <p:nvSpPr>
          <p:cNvPr id="5" name="Shape 3"/>
          <p:cNvSpPr/>
          <p:nvPr/>
        </p:nvSpPr>
        <p:spPr>
          <a:xfrm>
            <a:off x="457200" y="1828800"/>
            <a:ext cx="5577840" cy="2148840"/>
          </a:xfrm>
          <a:prstGeom prst="rect">
            <a:avLst/>
          </a:prstGeom>
          <a:solidFill>
            <a:srgbClr val="FFFFFF"/>
          </a:solidFill>
          <a:ln w="9525">
            <a:solidFill>
              <a:srgbClr val="E2E8F0"/>
            </a:solidFill>
            <a:prstDash val="solid"/>
          </a:ln>
        </p:spPr>
      </p:sp>
      <p:sp>
        <p:nvSpPr>
          <p:cNvPr id="6" name="Shape 4"/>
          <p:cNvSpPr/>
          <p:nvPr/>
        </p:nvSpPr>
        <p:spPr>
          <a:xfrm>
            <a:off x="457200" y="1828800"/>
            <a:ext cx="73152" cy="2148840"/>
          </a:xfrm>
          <a:prstGeom prst="rect">
            <a:avLst/>
          </a:prstGeom>
          <a:solidFill>
            <a:srgbClr val="1E2761"/>
          </a:solidFill>
          <a:ln w="12700">
            <a:solidFill>
              <a:srgbClr val="1E2761"/>
            </a:solidFill>
            <a:prstDash val="solid"/>
          </a:ln>
        </p:spPr>
      </p:sp>
      <p:sp>
        <p:nvSpPr>
          <p:cNvPr id="7" name="Shape 5"/>
          <p:cNvSpPr/>
          <p:nvPr/>
        </p:nvSpPr>
        <p:spPr>
          <a:xfrm>
            <a:off x="731520" y="2103120"/>
            <a:ext cx="502920" cy="502920"/>
          </a:xfrm>
          <a:prstGeom prst="ellipse">
            <a:avLst/>
          </a:prstGeom>
          <a:solidFill>
            <a:srgbClr val="CADCFC"/>
          </a:solidFill>
          <a:ln w="12700">
            <a:solidFill>
              <a:srgbClr val="CADCFC"/>
            </a:solidFill>
            <a:prstDash val="solid"/>
          </a:ln>
        </p:spPr>
      </p:sp>
      <p:pic>
        <p:nvPicPr>
          <p:cNvPr id="8" name="Image 0" descr="preencoded.png">    </p:cNvPr>
          <p:cNvPicPr>
            <a:picLocks noChangeAspect="1"/>
          </p:cNvPicPr>
          <p:nvPr/>
        </p:nvPicPr>
        <p:blipFill>
          <a:blip r:embed="rId1"/>
          <a:stretch>
            <a:fillRect/>
          </a:stretch>
        </p:blipFill>
        <p:spPr>
          <a:xfrm>
            <a:off x="841248" y="2212848"/>
            <a:ext cx="283464" cy="283464"/>
          </a:xfrm>
          <a:prstGeom prst="rect">
            <a:avLst/>
          </a:prstGeom>
        </p:spPr>
      </p:pic>
      <p:sp>
        <p:nvSpPr>
          <p:cNvPr id="9" name="Text 6"/>
          <p:cNvSpPr/>
          <p:nvPr/>
        </p:nvSpPr>
        <p:spPr>
          <a:xfrm>
            <a:off x="1371600" y="2084832"/>
            <a:ext cx="4480560" cy="36576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Ab Initio / Java / Perl batch &amp; PL-SQL</a:t>
            </a:r>
            <a:endParaRPr lang="en-US" sz="1400" dirty="0"/>
          </a:p>
        </p:txBody>
      </p:sp>
      <p:sp>
        <p:nvSpPr>
          <p:cNvPr id="10" name="Text 7"/>
          <p:cNvSpPr/>
          <p:nvPr/>
        </p:nvSpPr>
        <p:spPr>
          <a:xfrm>
            <a:off x="1371600" y="2450592"/>
            <a:ext cx="4480560" cy="274320"/>
          </a:xfrm>
          <a:prstGeom prst="rect">
            <a:avLst/>
          </a:prstGeom>
          <a:noFill/>
          <a:ln/>
        </p:spPr>
        <p:txBody>
          <a:bodyPr wrap="square" lIns="0" tIns="0" rIns="0" bIns="0" rtlCol="0" anchor="ctr"/>
          <a:lstStyle/>
          <a:p>
            <a:pPr indent="0" marL="0">
              <a:buNone/>
            </a:pPr>
            <a:r>
              <a:rPr lang="en-US" sz="1100" i="1" dirty="0">
                <a:solidFill>
                  <a:srgbClr val="F59E0B"/>
                </a:solidFill>
                <a:latin typeface="Calibri" pitchFamily="34" charset="0"/>
                <a:ea typeface="Calibri" pitchFamily="34" charset="-122"/>
                <a:cs typeface="Calibri" pitchFamily="34" charset="-120"/>
              </a:rPr>
              <a:t>Grant EXEMPT REDACTION POLICY</a:t>
            </a:r>
            <a:endParaRPr lang="en-US" sz="1100" dirty="0"/>
          </a:p>
        </p:txBody>
      </p:sp>
      <p:sp>
        <p:nvSpPr>
          <p:cNvPr id="11" name="Text 8"/>
          <p:cNvSpPr/>
          <p:nvPr/>
        </p:nvSpPr>
        <p:spPr>
          <a:xfrm>
            <a:off x="731520" y="2788920"/>
            <a:ext cx="5120640" cy="11430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These jobs must see real data — they're testing PROD-equivalent transformations. Service accounts run exempt. Lock them down to host, OS user, and program name via the logon trigger so humans can't log in as them. Add as Vault realm participants.</a:t>
            </a:r>
            <a:endParaRPr lang="en-US" sz="1100" dirty="0"/>
          </a:p>
        </p:txBody>
      </p:sp>
      <p:sp>
        <p:nvSpPr>
          <p:cNvPr id="12" name="Shape 9"/>
          <p:cNvSpPr/>
          <p:nvPr/>
        </p:nvSpPr>
        <p:spPr>
          <a:xfrm>
            <a:off x="6126480" y="1828800"/>
            <a:ext cx="5577840" cy="2148840"/>
          </a:xfrm>
          <a:prstGeom prst="rect">
            <a:avLst/>
          </a:prstGeom>
          <a:solidFill>
            <a:srgbClr val="FFFFFF"/>
          </a:solidFill>
          <a:ln w="9525">
            <a:solidFill>
              <a:srgbClr val="E2E8F0"/>
            </a:solidFill>
            <a:prstDash val="solid"/>
          </a:ln>
        </p:spPr>
      </p:sp>
      <p:sp>
        <p:nvSpPr>
          <p:cNvPr id="13" name="Shape 10"/>
          <p:cNvSpPr/>
          <p:nvPr/>
        </p:nvSpPr>
        <p:spPr>
          <a:xfrm>
            <a:off x="6126480" y="1828800"/>
            <a:ext cx="73152" cy="2148840"/>
          </a:xfrm>
          <a:prstGeom prst="rect">
            <a:avLst/>
          </a:prstGeom>
          <a:solidFill>
            <a:srgbClr val="1E2761"/>
          </a:solidFill>
          <a:ln w="12700">
            <a:solidFill>
              <a:srgbClr val="1E2761"/>
            </a:solidFill>
            <a:prstDash val="solid"/>
          </a:ln>
        </p:spPr>
      </p:sp>
      <p:sp>
        <p:nvSpPr>
          <p:cNvPr id="14" name="Shape 11"/>
          <p:cNvSpPr/>
          <p:nvPr/>
        </p:nvSpPr>
        <p:spPr>
          <a:xfrm>
            <a:off x="6400800" y="2103120"/>
            <a:ext cx="502920" cy="502920"/>
          </a:xfrm>
          <a:prstGeom prst="ellipse">
            <a:avLst/>
          </a:prstGeom>
          <a:solidFill>
            <a:srgbClr val="CADCFC"/>
          </a:solidFill>
          <a:ln w="12700">
            <a:solidFill>
              <a:srgbClr val="CADCFC"/>
            </a:solidFill>
            <a:prstDash val="solid"/>
          </a:ln>
        </p:spPr>
      </p:sp>
      <p:pic>
        <p:nvPicPr>
          <p:cNvPr id="15" name="Image 1" descr="preencoded.png">    </p:cNvPr>
          <p:cNvPicPr>
            <a:picLocks noChangeAspect="1"/>
          </p:cNvPicPr>
          <p:nvPr/>
        </p:nvPicPr>
        <p:blipFill>
          <a:blip r:embed="rId2"/>
          <a:stretch>
            <a:fillRect/>
          </a:stretch>
        </p:blipFill>
        <p:spPr>
          <a:xfrm>
            <a:off x="6510528" y="2212848"/>
            <a:ext cx="283464" cy="283464"/>
          </a:xfrm>
          <a:prstGeom prst="rect">
            <a:avLst/>
          </a:prstGeom>
        </p:spPr>
      </p:pic>
      <p:sp>
        <p:nvSpPr>
          <p:cNvPr id="16" name="Text 12"/>
          <p:cNvSpPr/>
          <p:nvPr/>
        </p:nvSpPr>
        <p:spPr>
          <a:xfrm>
            <a:off x="7040880" y="2084832"/>
            <a:ext cx="4480560" cy="36576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MicroStrategy reports &amp; dashboards</a:t>
            </a:r>
            <a:endParaRPr lang="en-US" sz="1400" dirty="0"/>
          </a:p>
        </p:txBody>
      </p:sp>
      <p:sp>
        <p:nvSpPr>
          <p:cNvPr id="17" name="Text 13"/>
          <p:cNvSpPr/>
          <p:nvPr/>
        </p:nvSpPr>
        <p:spPr>
          <a:xfrm>
            <a:off x="7040880" y="2450592"/>
            <a:ext cx="4480560" cy="274320"/>
          </a:xfrm>
          <a:prstGeom prst="rect">
            <a:avLst/>
          </a:prstGeom>
          <a:noFill/>
          <a:ln/>
        </p:spPr>
        <p:txBody>
          <a:bodyPr wrap="square" lIns="0" tIns="0" rIns="0" bIns="0" rtlCol="0" anchor="ctr"/>
          <a:lstStyle/>
          <a:p>
            <a:pPr indent="0" marL="0">
              <a:buNone/>
            </a:pPr>
            <a:r>
              <a:rPr lang="en-US" sz="1100" i="1" dirty="0">
                <a:solidFill>
                  <a:srgbClr val="F59E0B"/>
                </a:solidFill>
                <a:latin typeface="Calibri" pitchFamily="34" charset="0"/>
                <a:ea typeface="Calibri" pitchFamily="34" charset="-122"/>
                <a:cs typeface="Calibri" pitchFamily="34" charset="-120"/>
              </a:rPr>
              <a:t>Push end-user via CLIENT_IDENTIFIER</a:t>
            </a:r>
            <a:endParaRPr lang="en-US" sz="1100" dirty="0"/>
          </a:p>
        </p:txBody>
      </p:sp>
      <p:sp>
        <p:nvSpPr>
          <p:cNvPr id="18" name="Text 14"/>
          <p:cNvSpPr/>
          <p:nvPr/>
        </p:nvSpPr>
        <p:spPr>
          <a:xfrm>
            <a:off x="6400800" y="2788920"/>
            <a:ext cx="5120640" cy="11430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Default pooled service accounts make every report look the same to the DB. Push the report viewer's identity into the session (CLIENT_IDENTIFIER) so the policy can read it. Alternative: separate MSTR service accounts per tier and route projects accordingly.</a:t>
            </a:r>
            <a:endParaRPr lang="en-US" sz="1100" dirty="0"/>
          </a:p>
        </p:txBody>
      </p:sp>
      <p:sp>
        <p:nvSpPr>
          <p:cNvPr id="19" name="Shape 15"/>
          <p:cNvSpPr/>
          <p:nvPr/>
        </p:nvSpPr>
        <p:spPr>
          <a:xfrm>
            <a:off x="457200" y="4114800"/>
            <a:ext cx="5577840" cy="2148840"/>
          </a:xfrm>
          <a:prstGeom prst="rect">
            <a:avLst/>
          </a:prstGeom>
          <a:solidFill>
            <a:srgbClr val="FFFFFF"/>
          </a:solidFill>
          <a:ln w="9525">
            <a:solidFill>
              <a:srgbClr val="E2E8F0"/>
            </a:solidFill>
            <a:prstDash val="solid"/>
          </a:ln>
        </p:spPr>
      </p:sp>
      <p:sp>
        <p:nvSpPr>
          <p:cNvPr id="20" name="Shape 16"/>
          <p:cNvSpPr/>
          <p:nvPr/>
        </p:nvSpPr>
        <p:spPr>
          <a:xfrm>
            <a:off x="457200" y="4114800"/>
            <a:ext cx="73152" cy="2148840"/>
          </a:xfrm>
          <a:prstGeom prst="rect">
            <a:avLst/>
          </a:prstGeom>
          <a:solidFill>
            <a:srgbClr val="1E2761"/>
          </a:solidFill>
          <a:ln w="12700">
            <a:solidFill>
              <a:srgbClr val="1E2761"/>
            </a:solidFill>
            <a:prstDash val="solid"/>
          </a:ln>
        </p:spPr>
      </p:sp>
      <p:sp>
        <p:nvSpPr>
          <p:cNvPr id="21" name="Shape 17"/>
          <p:cNvSpPr/>
          <p:nvPr/>
        </p:nvSpPr>
        <p:spPr>
          <a:xfrm>
            <a:off x="731520" y="4389120"/>
            <a:ext cx="502920" cy="502920"/>
          </a:xfrm>
          <a:prstGeom prst="ellipse">
            <a:avLst/>
          </a:prstGeom>
          <a:solidFill>
            <a:srgbClr val="CADCFC"/>
          </a:solidFill>
          <a:ln w="12700">
            <a:solidFill>
              <a:srgbClr val="CADCFC"/>
            </a:solidFill>
            <a:prstDash val="solid"/>
          </a:ln>
        </p:spPr>
      </p:sp>
      <p:pic>
        <p:nvPicPr>
          <p:cNvPr id="22" name="Image 2" descr="preencoded.png">    </p:cNvPr>
          <p:cNvPicPr>
            <a:picLocks noChangeAspect="1"/>
          </p:cNvPicPr>
          <p:nvPr/>
        </p:nvPicPr>
        <p:blipFill>
          <a:blip r:embed="rId3"/>
          <a:stretch>
            <a:fillRect/>
          </a:stretch>
        </p:blipFill>
        <p:spPr>
          <a:xfrm>
            <a:off x="841248" y="4498848"/>
            <a:ext cx="283464" cy="283464"/>
          </a:xfrm>
          <a:prstGeom prst="rect">
            <a:avLst/>
          </a:prstGeom>
        </p:spPr>
      </p:pic>
      <p:sp>
        <p:nvSpPr>
          <p:cNvPr id="23" name="Text 18"/>
          <p:cNvSpPr/>
          <p:nvPr/>
        </p:nvSpPr>
        <p:spPr>
          <a:xfrm>
            <a:off x="1371600" y="4370832"/>
            <a:ext cx="4480560" cy="36576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Outbound files (~15K/day)</a:t>
            </a:r>
            <a:endParaRPr lang="en-US" sz="1400" dirty="0"/>
          </a:p>
        </p:txBody>
      </p:sp>
      <p:sp>
        <p:nvSpPr>
          <p:cNvPr id="24" name="Text 19"/>
          <p:cNvSpPr/>
          <p:nvPr/>
        </p:nvSpPr>
        <p:spPr>
          <a:xfrm>
            <a:off x="1371600" y="4736592"/>
            <a:ext cx="4480560" cy="274320"/>
          </a:xfrm>
          <a:prstGeom prst="rect">
            <a:avLst/>
          </a:prstGeom>
          <a:noFill/>
          <a:ln/>
        </p:spPr>
        <p:txBody>
          <a:bodyPr wrap="square" lIns="0" tIns="0" rIns="0" bIns="0" rtlCol="0" anchor="ctr"/>
          <a:lstStyle/>
          <a:p>
            <a:pPr indent="0" marL="0">
              <a:buNone/>
            </a:pPr>
            <a:r>
              <a:rPr lang="en-US" sz="1100" i="1" dirty="0">
                <a:solidFill>
                  <a:srgbClr val="F59E0B"/>
                </a:solidFill>
                <a:latin typeface="Calibri" pitchFamily="34" charset="0"/>
                <a:ea typeface="Calibri" pitchFamily="34" charset="-122"/>
                <a:cs typeface="Calibri" pitchFamily="34" charset="-120"/>
              </a:rPr>
              <a:t>Filesystem ACLs become primary control</a:t>
            </a:r>
            <a:endParaRPr lang="en-US" sz="1100" dirty="0"/>
          </a:p>
        </p:txBody>
      </p:sp>
      <p:sp>
        <p:nvSpPr>
          <p:cNvPr id="25" name="Text 20"/>
          <p:cNvSpPr/>
          <p:nvPr/>
        </p:nvSpPr>
        <p:spPr>
          <a:xfrm>
            <a:off x="731520" y="5074920"/>
            <a:ext cx="5120640" cy="11430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Generated by exempt service accounts, so files on disk contain raw PAN/PII regardless of redaction. Non-cleared testers must not be able to `cat` these. Treat output directory permissions, FTP server access, and archive paths as part of the security boundary.</a:t>
            </a:r>
            <a:endParaRPr lang="en-US" sz="1100" dirty="0"/>
          </a:p>
        </p:txBody>
      </p:sp>
      <p:sp>
        <p:nvSpPr>
          <p:cNvPr id="26" name="Shape 21"/>
          <p:cNvSpPr/>
          <p:nvPr/>
        </p:nvSpPr>
        <p:spPr>
          <a:xfrm>
            <a:off x="6126480" y="4114800"/>
            <a:ext cx="5577840" cy="2148840"/>
          </a:xfrm>
          <a:prstGeom prst="rect">
            <a:avLst/>
          </a:prstGeom>
          <a:solidFill>
            <a:srgbClr val="FFFFFF"/>
          </a:solidFill>
          <a:ln w="9525">
            <a:solidFill>
              <a:srgbClr val="E2E8F0"/>
            </a:solidFill>
            <a:prstDash val="solid"/>
          </a:ln>
        </p:spPr>
      </p:sp>
      <p:sp>
        <p:nvSpPr>
          <p:cNvPr id="27" name="Shape 22"/>
          <p:cNvSpPr/>
          <p:nvPr/>
        </p:nvSpPr>
        <p:spPr>
          <a:xfrm>
            <a:off x="6126480" y="4114800"/>
            <a:ext cx="73152" cy="2148840"/>
          </a:xfrm>
          <a:prstGeom prst="rect">
            <a:avLst/>
          </a:prstGeom>
          <a:solidFill>
            <a:srgbClr val="1E2761"/>
          </a:solidFill>
          <a:ln w="12700">
            <a:solidFill>
              <a:srgbClr val="1E2761"/>
            </a:solidFill>
            <a:prstDash val="solid"/>
          </a:ln>
        </p:spPr>
      </p:sp>
      <p:sp>
        <p:nvSpPr>
          <p:cNvPr id="28" name="Shape 23"/>
          <p:cNvSpPr/>
          <p:nvPr/>
        </p:nvSpPr>
        <p:spPr>
          <a:xfrm>
            <a:off x="6400800" y="4389120"/>
            <a:ext cx="502920" cy="502920"/>
          </a:xfrm>
          <a:prstGeom prst="ellipse">
            <a:avLst/>
          </a:prstGeom>
          <a:solidFill>
            <a:srgbClr val="CADCFC"/>
          </a:solidFill>
          <a:ln w="12700">
            <a:solidFill>
              <a:srgbClr val="CADCFC"/>
            </a:solidFill>
            <a:prstDash val="solid"/>
          </a:ln>
        </p:spPr>
      </p:sp>
      <p:pic>
        <p:nvPicPr>
          <p:cNvPr id="29" name="Image 3" descr="preencoded.png">    </p:cNvPr>
          <p:cNvPicPr>
            <a:picLocks noChangeAspect="1"/>
          </p:cNvPicPr>
          <p:nvPr/>
        </p:nvPicPr>
        <p:blipFill>
          <a:blip r:embed="rId4"/>
          <a:stretch>
            <a:fillRect/>
          </a:stretch>
        </p:blipFill>
        <p:spPr>
          <a:xfrm>
            <a:off x="6510528" y="4498848"/>
            <a:ext cx="283464" cy="283464"/>
          </a:xfrm>
          <a:prstGeom prst="rect">
            <a:avLst/>
          </a:prstGeom>
        </p:spPr>
      </p:pic>
      <p:sp>
        <p:nvSpPr>
          <p:cNvPr id="30" name="Text 24"/>
          <p:cNvSpPr/>
          <p:nvPr/>
        </p:nvSpPr>
        <p:spPr>
          <a:xfrm>
            <a:off x="7040880" y="4370832"/>
            <a:ext cx="4480560" cy="36576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Shell-script ad-hoc extracts</a:t>
            </a:r>
            <a:endParaRPr lang="en-US" sz="1400" dirty="0"/>
          </a:p>
        </p:txBody>
      </p:sp>
      <p:sp>
        <p:nvSpPr>
          <p:cNvPr id="31" name="Text 25"/>
          <p:cNvSpPr/>
          <p:nvPr/>
        </p:nvSpPr>
        <p:spPr>
          <a:xfrm>
            <a:off x="7040880" y="4736592"/>
            <a:ext cx="4480560" cy="274320"/>
          </a:xfrm>
          <a:prstGeom prst="rect">
            <a:avLst/>
          </a:prstGeom>
          <a:noFill/>
          <a:ln/>
        </p:spPr>
        <p:txBody>
          <a:bodyPr wrap="square" lIns="0" tIns="0" rIns="0" bIns="0" rtlCol="0" anchor="ctr"/>
          <a:lstStyle/>
          <a:p>
            <a:pPr indent="0" marL="0">
              <a:buNone/>
            </a:pPr>
            <a:r>
              <a:rPr lang="en-US" sz="1100" i="1" dirty="0">
                <a:solidFill>
                  <a:srgbClr val="F59E0B"/>
                </a:solidFill>
                <a:latin typeface="Calibri" pitchFamily="34" charset="0"/>
                <a:ea typeface="Calibri" pitchFamily="34" charset="-122"/>
                <a:cs typeface="Calibri" pitchFamily="34" charset="-120"/>
              </a:rPr>
              <a:t>Audit who runs as exempt</a:t>
            </a:r>
            <a:endParaRPr lang="en-US" sz="1100" dirty="0"/>
          </a:p>
        </p:txBody>
      </p:sp>
      <p:sp>
        <p:nvSpPr>
          <p:cNvPr id="32" name="Text 26"/>
          <p:cNvSpPr/>
          <p:nvPr/>
        </p:nvSpPr>
        <p:spPr>
          <a:xfrm>
            <a:off x="6400800" y="5074920"/>
            <a:ext cx="5120640" cy="11430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If a tester runs spool from a regular login, they get redacted output (good). If they share or reuse an exempt batch account, they get everything (bad). Inventory EXEMPT REDACTION POLICY holders monthly and treat the privilege like root.</a:t>
            </a:r>
            <a:endParaRPr lang="en-US" sz="1100" dirty="0"/>
          </a:p>
        </p:txBody>
      </p:sp>
      <p:sp>
        <p:nvSpPr>
          <p:cNvPr id="33" name="Text 27"/>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Runtime Data Redaction in PTE  |  Commercial Cards QC Strategy</a:t>
            </a:r>
            <a:endParaRPr lang="en-US" sz="900" dirty="0"/>
          </a:p>
        </p:txBody>
      </p:sp>
      <p:sp>
        <p:nvSpPr>
          <p:cNvPr id="34" name="Text 28"/>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92608"/>
            <a:ext cx="11247120" cy="274320"/>
          </a:xfrm>
          <a:prstGeom prst="rect">
            <a:avLst/>
          </a:prstGeom>
          <a:noFill/>
          <a:ln/>
        </p:spPr>
        <p:txBody>
          <a:bodyPr wrap="square" lIns="0" tIns="0" rIns="0" bIns="0" rtlCol="0" anchor="ctr"/>
          <a:lstStyle/>
          <a:p>
            <a:pPr indent="0" marL="0">
              <a:buNone/>
            </a:pPr>
            <a:r>
              <a:rPr lang="en-US" sz="1100" b="1" spc="400" kern="0" dirty="0">
                <a:solidFill>
                  <a:srgbClr val="64748B"/>
                </a:solidFill>
                <a:latin typeface="Calibri" pitchFamily="34" charset="0"/>
                <a:ea typeface="Calibri" pitchFamily="34" charset="-122"/>
                <a:cs typeface="Calibri" pitchFamily="34" charset="-120"/>
              </a:rPr>
              <a:t>COMPLIANCE</a:t>
            </a:r>
            <a:endParaRPr lang="en-US" sz="1100"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PCI-DSS reality check: a caveat we must own</a:t>
            </a:r>
            <a:endParaRPr lang="en-US" sz="2800" dirty="0"/>
          </a:p>
        </p:txBody>
      </p:sp>
      <p:sp>
        <p:nvSpPr>
          <p:cNvPr id="4" name="Shape 2"/>
          <p:cNvSpPr/>
          <p:nvPr/>
        </p:nvSpPr>
        <p:spPr>
          <a:xfrm>
            <a:off x="457200" y="1325880"/>
            <a:ext cx="11247120" cy="1417320"/>
          </a:xfrm>
          <a:prstGeom prst="rect">
            <a:avLst/>
          </a:prstGeom>
          <a:solidFill>
            <a:srgbClr val="1E2761"/>
          </a:solidFill>
          <a:ln w="12700">
            <a:solidFill>
              <a:srgbClr val="1E2761"/>
            </a:solidFill>
            <a:prstDash val="solid"/>
          </a:ln>
        </p:spPr>
      </p:sp>
      <p:pic>
        <p:nvPicPr>
          <p:cNvPr id="5" name="Image 0" descr="preencoded.png">    </p:cNvPr>
          <p:cNvPicPr>
            <a:picLocks noChangeAspect="1"/>
          </p:cNvPicPr>
          <p:nvPr/>
        </p:nvPicPr>
        <p:blipFill>
          <a:blip r:embed="rId1"/>
          <a:stretch>
            <a:fillRect/>
          </a:stretch>
        </p:blipFill>
        <p:spPr>
          <a:xfrm>
            <a:off x="777240" y="1600200"/>
            <a:ext cx="822960" cy="822960"/>
          </a:xfrm>
          <a:prstGeom prst="rect">
            <a:avLst/>
          </a:prstGeom>
        </p:spPr>
      </p:pic>
      <p:sp>
        <p:nvSpPr>
          <p:cNvPr id="6" name="Text 3"/>
          <p:cNvSpPr/>
          <p:nvPr/>
        </p:nvSpPr>
        <p:spPr>
          <a:xfrm>
            <a:off x="1828800" y="1481328"/>
            <a:ext cx="9601200" cy="45720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This approach is feasible — but it is not data masking.</a:t>
            </a:r>
            <a:endParaRPr lang="en-US" sz="1900" dirty="0"/>
          </a:p>
        </p:txBody>
      </p:sp>
      <p:sp>
        <p:nvSpPr>
          <p:cNvPr id="7" name="Text 4"/>
          <p:cNvSpPr/>
          <p:nvPr/>
        </p:nvSpPr>
        <p:spPr>
          <a:xfrm>
            <a:off x="1828800" y="1920240"/>
            <a:ext cx="9601200" cy="7772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Redaction operates on the read path. The underlying data, datafiles, redo logs, archive logs, and backups remain raw. PCI-DSS Req. 6.5.5 (live PANs in test) and the scope of the CDE still apply. The QSA, not the architecture diagram, gets the final word.</a:t>
            </a:r>
            <a:endParaRPr lang="en-US" sz="1200" dirty="0"/>
          </a:p>
        </p:txBody>
      </p:sp>
      <p:sp>
        <p:nvSpPr>
          <p:cNvPr id="8" name="Text 5"/>
          <p:cNvSpPr/>
          <p:nvPr/>
        </p:nvSpPr>
        <p:spPr>
          <a:xfrm>
            <a:off x="457200" y="2926080"/>
            <a:ext cx="548640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What's still in scope</a:t>
            </a:r>
            <a:endParaRPr lang="en-US" sz="1400" dirty="0"/>
          </a:p>
        </p:txBody>
      </p:sp>
      <p:sp>
        <p:nvSpPr>
          <p:cNvPr id="9" name="Shape 6"/>
          <p:cNvSpPr/>
          <p:nvPr/>
        </p:nvSpPr>
        <p:spPr>
          <a:xfrm>
            <a:off x="457200" y="3337560"/>
            <a:ext cx="5532120" cy="2743200"/>
          </a:xfrm>
          <a:prstGeom prst="rect">
            <a:avLst/>
          </a:prstGeom>
          <a:solidFill>
            <a:srgbClr val="FFFFFF"/>
          </a:solidFill>
          <a:ln w="9525">
            <a:solidFill>
              <a:srgbClr val="E2E8F0"/>
            </a:solidFill>
            <a:prstDash val="solid"/>
          </a:ln>
        </p:spPr>
      </p:sp>
      <p:sp>
        <p:nvSpPr>
          <p:cNvPr id="10" name="Shape 7"/>
          <p:cNvSpPr/>
          <p:nvPr/>
        </p:nvSpPr>
        <p:spPr>
          <a:xfrm>
            <a:off x="457200" y="3337560"/>
            <a:ext cx="73152" cy="2743200"/>
          </a:xfrm>
          <a:prstGeom prst="rect">
            <a:avLst/>
          </a:prstGeom>
          <a:solidFill>
            <a:srgbClr val="DC2626"/>
          </a:solidFill>
          <a:ln w="12700">
            <a:solidFill>
              <a:srgbClr val="DC2626"/>
            </a:solidFill>
            <a:prstDash val="solid"/>
          </a:ln>
        </p:spPr>
      </p:sp>
      <p:sp>
        <p:nvSpPr>
          <p:cNvPr id="11" name="Text 8"/>
          <p:cNvSpPr/>
          <p:nvPr/>
        </p:nvSpPr>
        <p:spPr>
          <a:xfrm>
            <a:off x="685800" y="3474720"/>
            <a:ext cx="5120640" cy="2514600"/>
          </a:xfrm>
          <a:prstGeom prst="rect">
            <a:avLst/>
          </a:prstGeom>
          <a:noFill/>
          <a:ln/>
        </p:spPr>
        <p:txBody>
          <a:bodyPr wrap="square" lIns="0" tIns="0" rIns="0" bIns="0" rtlCol="0" anchor="t"/>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PTE remains a PCI-DSS CDE — data on disk is raw</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Backups, redo, datafiles all contain real PAN/PII</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Expanding readers to MX/CL/IN broadens the people-boundary of the CDE</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DBAs with EXEMPT REDACTION POLICY can defeat the control</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Outbound files on disk still contain raw data</a:t>
            </a:r>
            <a:endParaRPr lang="en-US" sz="1200" dirty="0"/>
          </a:p>
        </p:txBody>
      </p:sp>
      <p:sp>
        <p:nvSpPr>
          <p:cNvPr id="12" name="Text 9"/>
          <p:cNvSpPr/>
          <p:nvPr/>
        </p:nvSpPr>
        <p:spPr>
          <a:xfrm>
            <a:off x="6263640" y="2926080"/>
            <a:ext cx="548640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How we defend it</a:t>
            </a:r>
            <a:endParaRPr lang="en-US" sz="1400" dirty="0"/>
          </a:p>
        </p:txBody>
      </p:sp>
      <p:sp>
        <p:nvSpPr>
          <p:cNvPr id="13" name="Shape 10"/>
          <p:cNvSpPr/>
          <p:nvPr/>
        </p:nvSpPr>
        <p:spPr>
          <a:xfrm>
            <a:off x="6263640" y="3337560"/>
            <a:ext cx="5532120" cy="2743200"/>
          </a:xfrm>
          <a:prstGeom prst="rect">
            <a:avLst/>
          </a:prstGeom>
          <a:solidFill>
            <a:srgbClr val="FFFFFF"/>
          </a:solidFill>
          <a:ln w="9525">
            <a:solidFill>
              <a:srgbClr val="E2E8F0"/>
            </a:solidFill>
            <a:prstDash val="solid"/>
          </a:ln>
        </p:spPr>
      </p:sp>
      <p:sp>
        <p:nvSpPr>
          <p:cNvPr id="14" name="Shape 11"/>
          <p:cNvSpPr/>
          <p:nvPr/>
        </p:nvSpPr>
        <p:spPr>
          <a:xfrm>
            <a:off x="6263640" y="3337560"/>
            <a:ext cx="73152" cy="2743200"/>
          </a:xfrm>
          <a:prstGeom prst="rect">
            <a:avLst/>
          </a:prstGeom>
          <a:solidFill>
            <a:srgbClr val="10B981"/>
          </a:solidFill>
          <a:ln w="12700">
            <a:solidFill>
              <a:srgbClr val="10B981"/>
            </a:solidFill>
            <a:prstDash val="solid"/>
          </a:ln>
        </p:spPr>
      </p:sp>
      <p:sp>
        <p:nvSpPr>
          <p:cNvPr id="15" name="Text 12"/>
          <p:cNvSpPr/>
          <p:nvPr/>
        </p:nvSpPr>
        <p:spPr>
          <a:xfrm>
            <a:off x="6492240" y="3474720"/>
            <a:ext cx="5120640" cy="2514600"/>
          </a:xfrm>
          <a:prstGeom prst="rect">
            <a:avLst/>
          </a:prstGeom>
          <a:noFill/>
          <a:ln/>
        </p:spPr>
        <p:txBody>
          <a:bodyPr wrap="square" lIns="0" tIns="0" rIns="0" bIns="0" rtlCol="0" anchor="t"/>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Database Vault realms protect against DBA/SYS access</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Monthly audit of EXEMPT REDACTION POLICY holders</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Tightened controls on backups, redo, datafile copies</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Filesystem ACLs around outbound file directories</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Unified Auditing of column access + policy changes</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PCI compliance officer engaged in Phase 0 (week 1)</a:t>
            </a:r>
            <a:endParaRPr lang="en-US" sz="1200" dirty="0"/>
          </a:p>
        </p:txBody>
      </p:sp>
      <p:sp>
        <p:nvSpPr>
          <p:cNvPr id="16" name="Text 13"/>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Runtime Data Redaction in PTE  |  Commercial Cards QC Strategy</a:t>
            </a:r>
            <a:endParaRPr lang="en-US" sz="900" dirty="0"/>
          </a:p>
        </p:txBody>
      </p:sp>
      <p:sp>
        <p:nvSpPr>
          <p:cNvPr id="17" name="Text 14"/>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92608"/>
            <a:ext cx="11247120" cy="274320"/>
          </a:xfrm>
          <a:prstGeom prst="rect">
            <a:avLst/>
          </a:prstGeom>
          <a:noFill/>
          <a:ln/>
        </p:spPr>
        <p:txBody>
          <a:bodyPr wrap="square" lIns="0" tIns="0" rIns="0" bIns="0" rtlCol="0" anchor="ctr"/>
          <a:lstStyle/>
          <a:p>
            <a:pPr indent="0" marL="0">
              <a:buNone/>
            </a:pPr>
            <a:r>
              <a:rPr lang="en-US" sz="1100" b="1" spc="400" kern="0" dirty="0">
                <a:solidFill>
                  <a:srgbClr val="64748B"/>
                </a:solidFill>
                <a:latin typeface="Calibri" pitchFamily="34" charset="0"/>
                <a:ea typeface="Calibri" pitchFamily="34" charset="-122"/>
                <a:cs typeface="Calibri" pitchFamily="34" charset="-120"/>
              </a:rPr>
              <a:t>RISKS &amp; MITIGATIONS</a:t>
            </a:r>
            <a:endParaRPr lang="en-US" sz="1100"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Known limitations to design around</a:t>
            </a:r>
            <a:endParaRPr lang="en-US" sz="2800" dirty="0"/>
          </a:p>
        </p:txBody>
      </p:sp>
      <p:sp>
        <p:nvSpPr>
          <p:cNvPr id="4" name="Text 2"/>
          <p:cNvSpPr/>
          <p:nvPr/>
        </p:nvSpPr>
        <p:spPr>
          <a:xfrm>
            <a:off x="457200" y="1280160"/>
            <a:ext cx="11247120" cy="36576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These have bitten Oracle Redaction projects before. Each has a tractable mitigation — but each must be designed in, not discovered in UAT.</a:t>
            </a:r>
            <a:endParaRPr lang="en-US" sz="1200" dirty="0"/>
          </a:p>
        </p:txBody>
      </p:sp>
      <p:sp>
        <p:nvSpPr>
          <p:cNvPr id="5" name="Shape 3"/>
          <p:cNvSpPr/>
          <p:nvPr/>
        </p:nvSpPr>
        <p:spPr>
          <a:xfrm>
            <a:off x="457200" y="1828800"/>
            <a:ext cx="11338560" cy="411480"/>
          </a:xfrm>
          <a:prstGeom prst="rect">
            <a:avLst/>
          </a:prstGeom>
          <a:solidFill>
            <a:srgbClr val="1E2761"/>
          </a:solidFill>
          <a:ln w="12700">
            <a:solidFill>
              <a:srgbClr val="1E2761"/>
            </a:solidFill>
            <a:prstDash val="solid"/>
          </a:ln>
        </p:spPr>
      </p:sp>
      <p:sp>
        <p:nvSpPr>
          <p:cNvPr id="6" name="Text 4"/>
          <p:cNvSpPr/>
          <p:nvPr/>
        </p:nvSpPr>
        <p:spPr>
          <a:xfrm>
            <a:off x="640080" y="1901952"/>
            <a:ext cx="2743200" cy="27432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Risk</a:t>
            </a:r>
            <a:endParaRPr lang="en-US" sz="1100" dirty="0"/>
          </a:p>
        </p:txBody>
      </p:sp>
      <p:sp>
        <p:nvSpPr>
          <p:cNvPr id="7" name="Text 5"/>
          <p:cNvSpPr/>
          <p:nvPr/>
        </p:nvSpPr>
        <p:spPr>
          <a:xfrm>
            <a:off x="3566160" y="1901952"/>
            <a:ext cx="3931920" cy="27432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Why it matters</a:t>
            </a:r>
            <a:endParaRPr lang="en-US" sz="1100" dirty="0"/>
          </a:p>
        </p:txBody>
      </p:sp>
      <p:sp>
        <p:nvSpPr>
          <p:cNvPr id="8" name="Text 6"/>
          <p:cNvSpPr/>
          <p:nvPr/>
        </p:nvSpPr>
        <p:spPr>
          <a:xfrm>
            <a:off x="7589520" y="1901952"/>
            <a:ext cx="4114800" cy="27432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Mitigation</a:t>
            </a:r>
            <a:endParaRPr lang="en-US" sz="1100" dirty="0"/>
          </a:p>
        </p:txBody>
      </p:sp>
      <p:sp>
        <p:nvSpPr>
          <p:cNvPr id="9" name="Shape 7"/>
          <p:cNvSpPr/>
          <p:nvPr/>
        </p:nvSpPr>
        <p:spPr>
          <a:xfrm>
            <a:off x="457200" y="2286000"/>
            <a:ext cx="11338560" cy="777240"/>
          </a:xfrm>
          <a:prstGeom prst="rect">
            <a:avLst/>
          </a:prstGeom>
          <a:solidFill>
            <a:srgbClr val="FFFFFF"/>
          </a:solidFill>
          <a:ln w="6350">
            <a:solidFill>
              <a:srgbClr val="E2E8F0"/>
            </a:solidFill>
            <a:prstDash val="solid"/>
          </a:ln>
        </p:spPr>
      </p:sp>
      <p:pic>
        <p:nvPicPr>
          <p:cNvPr id="10" name="Image 0" descr="preencoded.png">    </p:cNvPr>
          <p:cNvPicPr>
            <a:picLocks noChangeAspect="1"/>
          </p:cNvPicPr>
          <p:nvPr/>
        </p:nvPicPr>
        <p:blipFill>
          <a:blip r:embed="rId1"/>
          <a:stretch>
            <a:fillRect/>
          </a:stretch>
        </p:blipFill>
        <p:spPr>
          <a:xfrm>
            <a:off x="594360" y="2514600"/>
            <a:ext cx="274320" cy="274320"/>
          </a:xfrm>
          <a:prstGeom prst="rect">
            <a:avLst/>
          </a:prstGeom>
        </p:spPr>
      </p:pic>
      <p:sp>
        <p:nvSpPr>
          <p:cNvPr id="11" name="Text 8"/>
          <p:cNvSpPr/>
          <p:nvPr/>
        </p:nvSpPr>
        <p:spPr>
          <a:xfrm>
            <a:off x="914400" y="2423160"/>
            <a:ext cx="2560320" cy="54864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Inference via WHERE clauses</a:t>
            </a:r>
            <a:endParaRPr lang="en-US" sz="1200" dirty="0"/>
          </a:p>
        </p:txBody>
      </p:sp>
      <p:sp>
        <p:nvSpPr>
          <p:cNvPr id="12" name="Text 9"/>
          <p:cNvSpPr/>
          <p:nvPr/>
        </p:nvSpPr>
        <p:spPr>
          <a:xfrm>
            <a:off x="3566160" y="2423160"/>
            <a:ext cx="3931920" cy="5486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SELECT COUNT(*) WHERE pan LIKE '4532%' leaks values one bit at a time.</a:t>
            </a:r>
            <a:endParaRPr lang="en-US" sz="1100" dirty="0"/>
          </a:p>
        </p:txBody>
      </p:sp>
      <p:sp>
        <p:nvSpPr>
          <p:cNvPr id="13" name="Text 10"/>
          <p:cNvSpPr/>
          <p:nvPr/>
        </p:nvSpPr>
        <p:spPr>
          <a:xfrm>
            <a:off x="7589520" y="2423160"/>
            <a:ext cx="4114800" cy="5486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Restrict raw columns to redaction-protected views; remove direct table SELECT for general testers.</a:t>
            </a:r>
            <a:endParaRPr lang="en-US" sz="1100" dirty="0"/>
          </a:p>
        </p:txBody>
      </p:sp>
      <p:sp>
        <p:nvSpPr>
          <p:cNvPr id="14" name="Shape 11"/>
          <p:cNvSpPr/>
          <p:nvPr/>
        </p:nvSpPr>
        <p:spPr>
          <a:xfrm>
            <a:off x="457200" y="3063240"/>
            <a:ext cx="11338560" cy="777240"/>
          </a:xfrm>
          <a:prstGeom prst="rect">
            <a:avLst/>
          </a:prstGeom>
          <a:solidFill>
            <a:srgbClr val="F8FAFC"/>
          </a:solidFill>
          <a:ln w="6350">
            <a:solidFill>
              <a:srgbClr val="E2E8F0"/>
            </a:solidFill>
            <a:prstDash val="solid"/>
          </a:ln>
        </p:spPr>
      </p:sp>
      <p:pic>
        <p:nvPicPr>
          <p:cNvPr id="15" name="Image 1" descr="preencoded.png">    </p:cNvPr>
          <p:cNvPicPr>
            <a:picLocks noChangeAspect="1"/>
          </p:cNvPicPr>
          <p:nvPr/>
        </p:nvPicPr>
        <p:blipFill>
          <a:blip r:embed="rId2"/>
          <a:stretch>
            <a:fillRect/>
          </a:stretch>
        </p:blipFill>
        <p:spPr>
          <a:xfrm>
            <a:off x="594360" y="3291840"/>
            <a:ext cx="274320" cy="274320"/>
          </a:xfrm>
          <a:prstGeom prst="rect">
            <a:avLst/>
          </a:prstGeom>
        </p:spPr>
      </p:pic>
      <p:sp>
        <p:nvSpPr>
          <p:cNvPr id="16" name="Text 12"/>
          <p:cNvSpPr/>
          <p:nvPr/>
        </p:nvSpPr>
        <p:spPr>
          <a:xfrm>
            <a:off x="914400" y="3200400"/>
            <a:ext cx="2560320" cy="54864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CTAS / Data Pump escape</a:t>
            </a:r>
            <a:endParaRPr lang="en-US" sz="1200" dirty="0"/>
          </a:p>
        </p:txBody>
      </p:sp>
      <p:sp>
        <p:nvSpPr>
          <p:cNvPr id="17" name="Text 13"/>
          <p:cNvSpPr/>
          <p:nvPr/>
        </p:nvSpPr>
        <p:spPr>
          <a:xfrm>
            <a:off x="3566160" y="3200400"/>
            <a:ext cx="3931920" cy="5486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Exempt users can CREATE TABLE AS SELECT and export raw data.</a:t>
            </a:r>
            <a:endParaRPr lang="en-US" sz="1100" dirty="0"/>
          </a:p>
        </p:txBody>
      </p:sp>
      <p:sp>
        <p:nvSpPr>
          <p:cNvPr id="18" name="Text 14"/>
          <p:cNvSpPr/>
          <p:nvPr/>
        </p:nvSpPr>
        <p:spPr>
          <a:xfrm>
            <a:off x="7589520" y="3200400"/>
            <a:ext cx="4114800" cy="5486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Block CREATE TABLE, datapump export rights, and DB link creation for tester roles.</a:t>
            </a:r>
            <a:endParaRPr lang="en-US" sz="1100" dirty="0"/>
          </a:p>
        </p:txBody>
      </p:sp>
      <p:sp>
        <p:nvSpPr>
          <p:cNvPr id="19" name="Shape 15"/>
          <p:cNvSpPr/>
          <p:nvPr/>
        </p:nvSpPr>
        <p:spPr>
          <a:xfrm>
            <a:off x="457200" y="3840480"/>
            <a:ext cx="11338560" cy="777240"/>
          </a:xfrm>
          <a:prstGeom prst="rect">
            <a:avLst/>
          </a:prstGeom>
          <a:solidFill>
            <a:srgbClr val="FFFFFF"/>
          </a:solidFill>
          <a:ln w="6350">
            <a:solidFill>
              <a:srgbClr val="E2E8F0"/>
            </a:solidFill>
            <a:prstDash val="solid"/>
          </a:ln>
        </p:spPr>
      </p:sp>
      <p:pic>
        <p:nvPicPr>
          <p:cNvPr id="20" name="Image 2" descr="preencoded.png">    </p:cNvPr>
          <p:cNvPicPr>
            <a:picLocks noChangeAspect="1"/>
          </p:cNvPicPr>
          <p:nvPr/>
        </p:nvPicPr>
        <p:blipFill>
          <a:blip r:embed="rId3"/>
          <a:stretch>
            <a:fillRect/>
          </a:stretch>
        </p:blipFill>
        <p:spPr>
          <a:xfrm>
            <a:off x="594360" y="4069080"/>
            <a:ext cx="274320" cy="274320"/>
          </a:xfrm>
          <a:prstGeom prst="rect">
            <a:avLst/>
          </a:prstGeom>
        </p:spPr>
      </p:pic>
      <p:sp>
        <p:nvSpPr>
          <p:cNvPr id="21" name="Text 16"/>
          <p:cNvSpPr/>
          <p:nvPr/>
        </p:nvSpPr>
        <p:spPr>
          <a:xfrm>
            <a:off x="914400" y="3977640"/>
            <a:ext cx="2560320" cy="54864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Materialized views with raw data</a:t>
            </a:r>
            <a:endParaRPr lang="en-US" sz="1200" dirty="0"/>
          </a:p>
        </p:txBody>
      </p:sp>
      <p:sp>
        <p:nvSpPr>
          <p:cNvPr id="22" name="Text 17"/>
          <p:cNvSpPr/>
          <p:nvPr/>
        </p:nvSpPr>
        <p:spPr>
          <a:xfrm>
            <a:off x="3566160" y="3977640"/>
            <a:ext cx="3931920" cy="5486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MV refreshed by exempt account materializes raw values that bypass redaction.</a:t>
            </a:r>
            <a:endParaRPr lang="en-US" sz="1100" dirty="0"/>
          </a:p>
        </p:txBody>
      </p:sp>
      <p:sp>
        <p:nvSpPr>
          <p:cNvPr id="23" name="Text 18"/>
          <p:cNvSpPr/>
          <p:nvPr/>
        </p:nvSpPr>
        <p:spPr>
          <a:xfrm>
            <a:off x="7589520" y="3977640"/>
            <a:ext cx="4114800" cy="5486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Inventory all MVs touching sensitive cols; re-redact at MV level or refresh under non-exempt context.</a:t>
            </a:r>
            <a:endParaRPr lang="en-US" sz="1100" dirty="0"/>
          </a:p>
        </p:txBody>
      </p:sp>
      <p:sp>
        <p:nvSpPr>
          <p:cNvPr id="24" name="Shape 19"/>
          <p:cNvSpPr/>
          <p:nvPr/>
        </p:nvSpPr>
        <p:spPr>
          <a:xfrm>
            <a:off x="457200" y="4617720"/>
            <a:ext cx="11338560" cy="777240"/>
          </a:xfrm>
          <a:prstGeom prst="rect">
            <a:avLst/>
          </a:prstGeom>
          <a:solidFill>
            <a:srgbClr val="F8FAFC"/>
          </a:solidFill>
          <a:ln w="6350">
            <a:solidFill>
              <a:srgbClr val="E2E8F0"/>
            </a:solidFill>
            <a:prstDash val="solid"/>
          </a:ln>
        </p:spPr>
      </p:sp>
      <p:pic>
        <p:nvPicPr>
          <p:cNvPr id="25" name="Image 3" descr="preencoded.png">    </p:cNvPr>
          <p:cNvPicPr>
            <a:picLocks noChangeAspect="1"/>
          </p:cNvPicPr>
          <p:nvPr/>
        </p:nvPicPr>
        <p:blipFill>
          <a:blip r:embed="rId4"/>
          <a:stretch>
            <a:fillRect/>
          </a:stretch>
        </p:blipFill>
        <p:spPr>
          <a:xfrm>
            <a:off x="594360" y="4846320"/>
            <a:ext cx="274320" cy="274320"/>
          </a:xfrm>
          <a:prstGeom prst="rect">
            <a:avLst/>
          </a:prstGeom>
        </p:spPr>
      </p:pic>
      <p:sp>
        <p:nvSpPr>
          <p:cNvPr id="26" name="Text 20"/>
          <p:cNvSpPr/>
          <p:nvPr/>
        </p:nvSpPr>
        <p:spPr>
          <a:xfrm>
            <a:off x="914400" y="4754880"/>
            <a:ext cx="2560320" cy="54864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Non-deterministic redaction breaks diffs</a:t>
            </a:r>
            <a:endParaRPr lang="en-US" sz="1200" dirty="0"/>
          </a:p>
        </p:txBody>
      </p:sp>
      <p:sp>
        <p:nvSpPr>
          <p:cNvPr id="27" name="Text 21"/>
          <p:cNvSpPr/>
          <p:nvPr/>
        </p:nvSpPr>
        <p:spPr>
          <a:xfrm>
            <a:off x="3566160" y="4754880"/>
            <a:ext cx="3931920" cy="5486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RANDOM redaction returns different value each session — comparison testing fails.</a:t>
            </a:r>
            <a:endParaRPr lang="en-US" sz="1100" dirty="0"/>
          </a:p>
        </p:txBody>
      </p:sp>
      <p:sp>
        <p:nvSpPr>
          <p:cNvPr id="28" name="Text 22"/>
          <p:cNvSpPr/>
          <p:nvPr/>
        </p:nvSpPr>
        <p:spPr>
          <a:xfrm>
            <a:off x="7589520" y="4754880"/>
            <a:ext cx="4114800" cy="5486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Use FULL or PARTIAL with fixed format. Redact expected results the same way.</a:t>
            </a:r>
            <a:endParaRPr lang="en-US" sz="1100" dirty="0"/>
          </a:p>
        </p:txBody>
      </p:sp>
      <p:sp>
        <p:nvSpPr>
          <p:cNvPr id="29" name="Shape 23"/>
          <p:cNvSpPr/>
          <p:nvPr/>
        </p:nvSpPr>
        <p:spPr>
          <a:xfrm>
            <a:off x="457200" y="5394960"/>
            <a:ext cx="11338560" cy="777240"/>
          </a:xfrm>
          <a:prstGeom prst="rect">
            <a:avLst/>
          </a:prstGeom>
          <a:solidFill>
            <a:srgbClr val="FFFFFF"/>
          </a:solidFill>
          <a:ln w="6350">
            <a:solidFill>
              <a:srgbClr val="E2E8F0"/>
            </a:solidFill>
            <a:prstDash val="solid"/>
          </a:ln>
        </p:spPr>
      </p:sp>
      <p:pic>
        <p:nvPicPr>
          <p:cNvPr id="30" name="Image 4" descr="preencoded.png">    </p:cNvPr>
          <p:cNvPicPr>
            <a:picLocks noChangeAspect="1"/>
          </p:cNvPicPr>
          <p:nvPr/>
        </p:nvPicPr>
        <p:blipFill>
          <a:blip r:embed="rId5"/>
          <a:stretch>
            <a:fillRect/>
          </a:stretch>
        </p:blipFill>
        <p:spPr>
          <a:xfrm>
            <a:off x="594360" y="5623560"/>
            <a:ext cx="274320" cy="274320"/>
          </a:xfrm>
          <a:prstGeom prst="rect">
            <a:avLst/>
          </a:prstGeom>
        </p:spPr>
      </p:pic>
      <p:sp>
        <p:nvSpPr>
          <p:cNvPr id="31" name="Text 24"/>
          <p:cNvSpPr/>
          <p:nvPr/>
        </p:nvSpPr>
        <p:spPr>
          <a:xfrm>
            <a:off x="914400" y="5532120"/>
            <a:ext cx="2560320" cy="54864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Performance on REGEXP-heavy reports</a:t>
            </a:r>
            <a:endParaRPr lang="en-US" sz="1200" dirty="0"/>
          </a:p>
        </p:txBody>
      </p:sp>
      <p:sp>
        <p:nvSpPr>
          <p:cNvPr id="32" name="Text 25"/>
          <p:cNvSpPr/>
          <p:nvPr/>
        </p:nvSpPr>
        <p:spPr>
          <a:xfrm>
            <a:off x="3566160" y="5532120"/>
            <a:ext cx="3931920" cy="5486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Wide result sets with regex redaction can show noticeable CPU cost.</a:t>
            </a:r>
            <a:endParaRPr lang="en-US" sz="1100" dirty="0"/>
          </a:p>
        </p:txBody>
      </p:sp>
      <p:sp>
        <p:nvSpPr>
          <p:cNvPr id="33" name="Text 26"/>
          <p:cNvSpPr/>
          <p:nvPr/>
        </p:nvSpPr>
        <p:spPr>
          <a:xfrm>
            <a:off x="7589520" y="5532120"/>
            <a:ext cx="4114800" cy="5486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Benchmark before rollout; prefer PARTIAL over REGEXP where format allows.</a:t>
            </a:r>
            <a:endParaRPr lang="en-US" sz="1100" dirty="0"/>
          </a:p>
        </p:txBody>
      </p:sp>
      <p:sp>
        <p:nvSpPr>
          <p:cNvPr id="34" name="Text 27"/>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Runtime Data Redaction in PTE  |  Commercial Cards QC Strategy</a:t>
            </a:r>
            <a:endParaRPr lang="en-US" sz="900" dirty="0"/>
          </a:p>
        </p:txBody>
      </p:sp>
      <p:sp>
        <p:nvSpPr>
          <p:cNvPr id="35" name="Text 28"/>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92608"/>
            <a:ext cx="11247120" cy="274320"/>
          </a:xfrm>
          <a:prstGeom prst="rect">
            <a:avLst/>
          </a:prstGeom>
          <a:noFill/>
          <a:ln/>
        </p:spPr>
        <p:txBody>
          <a:bodyPr wrap="square" lIns="0" tIns="0" rIns="0" bIns="0" rtlCol="0" anchor="ctr"/>
          <a:lstStyle/>
          <a:p>
            <a:pPr indent="0" marL="0">
              <a:buNone/>
            </a:pPr>
            <a:r>
              <a:rPr lang="en-US" sz="1100" b="1" spc="400" kern="0" dirty="0">
                <a:solidFill>
                  <a:srgbClr val="64748B"/>
                </a:solidFill>
                <a:latin typeface="Calibri" pitchFamily="34" charset="0"/>
                <a:ea typeface="Calibri" pitchFamily="34" charset="-122"/>
                <a:cs typeface="Calibri" pitchFamily="34" charset="-120"/>
              </a:rPr>
              <a:t>ROLLOUT PLAN</a:t>
            </a:r>
            <a:endParaRPr lang="en-US" sz="1100"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Four phases — runtime now, masked UAT later</a:t>
            </a:r>
            <a:endParaRPr lang="en-US" sz="2800" dirty="0"/>
          </a:p>
        </p:txBody>
      </p:sp>
      <p:sp>
        <p:nvSpPr>
          <p:cNvPr id="4" name="Shape 2"/>
          <p:cNvSpPr/>
          <p:nvPr/>
        </p:nvSpPr>
        <p:spPr>
          <a:xfrm>
            <a:off x="457200" y="1691640"/>
            <a:ext cx="2788920" cy="4023360"/>
          </a:xfrm>
          <a:prstGeom prst="rect">
            <a:avLst/>
          </a:prstGeom>
          <a:solidFill>
            <a:srgbClr val="FFFFFF"/>
          </a:solidFill>
          <a:ln w="9525">
            <a:solidFill>
              <a:srgbClr val="E2E8F0"/>
            </a:solidFill>
            <a:prstDash val="solid"/>
          </a:ln>
        </p:spPr>
      </p:sp>
      <p:sp>
        <p:nvSpPr>
          <p:cNvPr id="5" name="Shape 3"/>
          <p:cNvSpPr/>
          <p:nvPr/>
        </p:nvSpPr>
        <p:spPr>
          <a:xfrm>
            <a:off x="457200" y="1691640"/>
            <a:ext cx="2788920" cy="777240"/>
          </a:xfrm>
          <a:prstGeom prst="rect">
            <a:avLst/>
          </a:prstGeom>
          <a:solidFill>
            <a:srgbClr val="1E2761"/>
          </a:solidFill>
          <a:ln w="12700">
            <a:solidFill>
              <a:srgbClr val="1E2761"/>
            </a:solidFill>
            <a:prstDash val="solid"/>
          </a:ln>
        </p:spPr>
      </p:sp>
      <p:sp>
        <p:nvSpPr>
          <p:cNvPr id="6" name="Text 4"/>
          <p:cNvSpPr/>
          <p:nvPr/>
        </p:nvSpPr>
        <p:spPr>
          <a:xfrm>
            <a:off x="640080" y="1801368"/>
            <a:ext cx="2423160" cy="274320"/>
          </a:xfrm>
          <a:prstGeom prst="rect">
            <a:avLst/>
          </a:prstGeom>
          <a:noFill/>
          <a:ln/>
        </p:spPr>
        <p:txBody>
          <a:bodyPr wrap="square" lIns="0" tIns="0" rIns="0" bIns="0" rtlCol="0" anchor="ctr"/>
          <a:lstStyle/>
          <a:p>
            <a:pPr indent="0" marL="0">
              <a:buNone/>
            </a:pPr>
            <a:r>
              <a:rPr lang="en-US" sz="1100" b="1" spc="400" kern="0" dirty="0">
                <a:solidFill>
                  <a:srgbClr val="FFFFFF"/>
                </a:solidFill>
                <a:latin typeface="Calibri" pitchFamily="34" charset="0"/>
                <a:ea typeface="Calibri" pitchFamily="34" charset="-122"/>
                <a:cs typeface="Calibri" pitchFamily="34" charset="-120"/>
              </a:rPr>
              <a:t>PHASE 0</a:t>
            </a:r>
            <a:endParaRPr lang="en-US" sz="1100" dirty="0"/>
          </a:p>
        </p:txBody>
      </p:sp>
      <p:sp>
        <p:nvSpPr>
          <p:cNvPr id="7" name="Text 5"/>
          <p:cNvSpPr/>
          <p:nvPr/>
        </p:nvSpPr>
        <p:spPr>
          <a:xfrm>
            <a:off x="640080" y="2075688"/>
            <a:ext cx="2423160" cy="274320"/>
          </a:xfrm>
          <a:prstGeom prst="rect">
            <a:avLst/>
          </a:prstGeom>
          <a:noFill/>
          <a:ln/>
        </p:spPr>
        <p:txBody>
          <a:bodyPr wrap="square" lIns="0" tIns="0" rIns="0" bIns="0"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Weeks 1–4</a:t>
            </a:r>
            <a:endParaRPr lang="en-US" sz="1100" dirty="0"/>
          </a:p>
        </p:txBody>
      </p:sp>
      <p:sp>
        <p:nvSpPr>
          <p:cNvPr id="8" name="Text 6"/>
          <p:cNvSpPr/>
          <p:nvPr/>
        </p:nvSpPr>
        <p:spPr>
          <a:xfrm>
            <a:off x="640080" y="2606040"/>
            <a:ext cx="2423160" cy="502920"/>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Foundation &amp; buy-in</a:t>
            </a:r>
            <a:endParaRPr lang="en-US" sz="1500" dirty="0"/>
          </a:p>
        </p:txBody>
      </p:sp>
      <p:sp>
        <p:nvSpPr>
          <p:cNvPr id="9" name="Text 7"/>
          <p:cNvSpPr/>
          <p:nvPr/>
        </p:nvSpPr>
        <p:spPr>
          <a:xfrm>
            <a:off x="640080" y="3200400"/>
            <a:ext cx="2423160" cy="23774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Engage PCI compliance officer</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Confirm Oracle Advanced Security + Vault licensing</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Inventory sensitive columns</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Define 3-tier user model</a:t>
            </a:r>
            <a:endParaRPr lang="en-US" sz="1050" dirty="0"/>
          </a:p>
        </p:txBody>
      </p:sp>
      <p:sp>
        <p:nvSpPr>
          <p:cNvPr id="10" name="Shape 8"/>
          <p:cNvSpPr/>
          <p:nvPr/>
        </p:nvSpPr>
        <p:spPr>
          <a:xfrm>
            <a:off x="3364992" y="1691640"/>
            <a:ext cx="2788920" cy="4023360"/>
          </a:xfrm>
          <a:prstGeom prst="rect">
            <a:avLst/>
          </a:prstGeom>
          <a:solidFill>
            <a:srgbClr val="FFFFFF"/>
          </a:solidFill>
          <a:ln w="9525">
            <a:solidFill>
              <a:srgbClr val="E2E8F0"/>
            </a:solidFill>
            <a:prstDash val="solid"/>
          </a:ln>
        </p:spPr>
      </p:sp>
      <p:sp>
        <p:nvSpPr>
          <p:cNvPr id="11" name="Shape 9"/>
          <p:cNvSpPr/>
          <p:nvPr/>
        </p:nvSpPr>
        <p:spPr>
          <a:xfrm>
            <a:off x="3364992" y="1691640"/>
            <a:ext cx="2788920" cy="777240"/>
          </a:xfrm>
          <a:prstGeom prst="rect">
            <a:avLst/>
          </a:prstGeom>
          <a:solidFill>
            <a:srgbClr val="1E2761"/>
          </a:solidFill>
          <a:ln w="12700">
            <a:solidFill>
              <a:srgbClr val="1E2761"/>
            </a:solidFill>
            <a:prstDash val="solid"/>
          </a:ln>
        </p:spPr>
      </p:sp>
      <p:sp>
        <p:nvSpPr>
          <p:cNvPr id="12" name="Text 10"/>
          <p:cNvSpPr/>
          <p:nvPr/>
        </p:nvSpPr>
        <p:spPr>
          <a:xfrm>
            <a:off x="3547872" y="1801368"/>
            <a:ext cx="2423160" cy="274320"/>
          </a:xfrm>
          <a:prstGeom prst="rect">
            <a:avLst/>
          </a:prstGeom>
          <a:noFill/>
          <a:ln/>
        </p:spPr>
        <p:txBody>
          <a:bodyPr wrap="square" lIns="0" tIns="0" rIns="0" bIns="0" rtlCol="0" anchor="ctr"/>
          <a:lstStyle/>
          <a:p>
            <a:pPr indent="0" marL="0">
              <a:buNone/>
            </a:pPr>
            <a:r>
              <a:rPr lang="en-US" sz="1100" b="1" spc="400" kern="0" dirty="0">
                <a:solidFill>
                  <a:srgbClr val="FFFFFF"/>
                </a:solidFill>
                <a:latin typeface="Calibri" pitchFamily="34" charset="0"/>
                <a:ea typeface="Calibri" pitchFamily="34" charset="-122"/>
                <a:cs typeface="Calibri" pitchFamily="34" charset="-120"/>
              </a:rPr>
              <a:t>PHASE 1</a:t>
            </a:r>
            <a:endParaRPr lang="en-US" sz="1100" dirty="0"/>
          </a:p>
        </p:txBody>
      </p:sp>
      <p:sp>
        <p:nvSpPr>
          <p:cNvPr id="13" name="Text 11"/>
          <p:cNvSpPr/>
          <p:nvPr/>
        </p:nvSpPr>
        <p:spPr>
          <a:xfrm>
            <a:off x="3547872" y="2075688"/>
            <a:ext cx="2423160" cy="274320"/>
          </a:xfrm>
          <a:prstGeom prst="rect">
            <a:avLst/>
          </a:prstGeom>
          <a:noFill/>
          <a:ln/>
        </p:spPr>
        <p:txBody>
          <a:bodyPr wrap="square" lIns="0" tIns="0" rIns="0" bIns="0"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Weeks 5–10</a:t>
            </a:r>
            <a:endParaRPr lang="en-US" sz="1100" dirty="0"/>
          </a:p>
        </p:txBody>
      </p:sp>
      <p:sp>
        <p:nvSpPr>
          <p:cNvPr id="14" name="Text 12"/>
          <p:cNvSpPr/>
          <p:nvPr/>
        </p:nvSpPr>
        <p:spPr>
          <a:xfrm>
            <a:off x="3547872" y="2606040"/>
            <a:ext cx="2423160" cy="502920"/>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Framework &amp; pilot</a:t>
            </a:r>
            <a:endParaRPr lang="en-US" sz="1500" dirty="0"/>
          </a:p>
        </p:txBody>
      </p:sp>
      <p:sp>
        <p:nvSpPr>
          <p:cNvPr id="15" name="Text 13"/>
          <p:cNvSpPr/>
          <p:nvPr/>
        </p:nvSpPr>
        <p:spPr>
          <a:xfrm>
            <a:off x="3547872" y="3200400"/>
            <a:ext cx="2423160" cy="23774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Build app context + logon trigger</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Pilot redaction on 5–10 highest-sensitivity columns</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Onboard small global tester cohort</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Validate test-tool comparisons</a:t>
            </a:r>
            <a:endParaRPr lang="en-US" sz="1050" dirty="0"/>
          </a:p>
        </p:txBody>
      </p:sp>
      <p:sp>
        <p:nvSpPr>
          <p:cNvPr id="16" name="Shape 14"/>
          <p:cNvSpPr/>
          <p:nvPr/>
        </p:nvSpPr>
        <p:spPr>
          <a:xfrm>
            <a:off x="6272784" y="1691640"/>
            <a:ext cx="2788920" cy="4023360"/>
          </a:xfrm>
          <a:prstGeom prst="rect">
            <a:avLst/>
          </a:prstGeom>
          <a:solidFill>
            <a:srgbClr val="FFFFFF"/>
          </a:solidFill>
          <a:ln w="9525">
            <a:solidFill>
              <a:srgbClr val="E2E8F0"/>
            </a:solidFill>
            <a:prstDash val="solid"/>
          </a:ln>
        </p:spPr>
      </p:sp>
      <p:sp>
        <p:nvSpPr>
          <p:cNvPr id="17" name="Shape 15"/>
          <p:cNvSpPr/>
          <p:nvPr/>
        </p:nvSpPr>
        <p:spPr>
          <a:xfrm>
            <a:off x="6272784" y="1691640"/>
            <a:ext cx="2788920" cy="777240"/>
          </a:xfrm>
          <a:prstGeom prst="rect">
            <a:avLst/>
          </a:prstGeom>
          <a:solidFill>
            <a:srgbClr val="1E2761"/>
          </a:solidFill>
          <a:ln w="12700">
            <a:solidFill>
              <a:srgbClr val="1E2761"/>
            </a:solidFill>
            <a:prstDash val="solid"/>
          </a:ln>
        </p:spPr>
      </p:sp>
      <p:sp>
        <p:nvSpPr>
          <p:cNvPr id="18" name="Text 16"/>
          <p:cNvSpPr/>
          <p:nvPr/>
        </p:nvSpPr>
        <p:spPr>
          <a:xfrm>
            <a:off x="6455664" y="1801368"/>
            <a:ext cx="2423160" cy="274320"/>
          </a:xfrm>
          <a:prstGeom prst="rect">
            <a:avLst/>
          </a:prstGeom>
          <a:noFill/>
          <a:ln/>
        </p:spPr>
        <p:txBody>
          <a:bodyPr wrap="square" lIns="0" tIns="0" rIns="0" bIns="0" rtlCol="0" anchor="ctr"/>
          <a:lstStyle/>
          <a:p>
            <a:pPr indent="0" marL="0">
              <a:buNone/>
            </a:pPr>
            <a:r>
              <a:rPr lang="en-US" sz="1100" b="1" spc="400" kern="0" dirty="0">
                <a:solidFill>
                  <a:srgbClr val="FFFFFF"/>
                </a:solidFill>
                <a:latin typeface="Calibri" pitchFamily="34" charset="0"/>
                <a:ea typeface="Calibri" pitchFamily="34" charset="-122"/>
                <a:cs typeface="Calibri" pitchFamily="34" charset="-120"/>
              </a:rPr>
              <a:t>PHASE 2</a:t>
            </a:r>
            <a:endParaRPr lang="en-US" sz="1100" dirty="0"/>
          </a:p>
        </p:txBody>
      </p:sp>
      <p:sp>
        <p:nvSpPr>
          <p:cNvPr id="19" name="Text 17"/>
          <p:cNvSpPr/>
          <p:nvPr/>
        </p:nvSpPr>
        <p:spPr>
          <a:xfrm>
            <a:off x="6455664" y="2075688"/>
            <a:ext cx="2423160" cy="274320"/>
          </a:xfrm>
          <a:prstGeom prst="rect">
            <a:avLst/>
          </a:prstGeom>
          <a:noFill/>
          <a:ln/>
        </p:spPr>
        <p:txBody>
          <a:bodyPr wrap="square" lIns="0" tIns="0" rIns="0" bIns="0"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Weeks 11–20</a:t>
            </a:r>
            <a:endParaRPr lang="en-US" sz="1100" dirty="0"/>
          </a:p>
        </p:txBody>
      </p:sp>
      <p:sp>
        <p:nvSpPr>
          <p:cNvPr id="20" name="Text 18"/>
          <p:cNvSpPr/>
          <p:nvPr/>
        </p:nvSpPr>
        <p:spPr>
          <a:xfrm>
            <a:off x="6455664" y="2606040"/>
            <a:ext cx="2423160" cy="502920"/>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Scale across PTE</a:t>
            </a:r>
            <a:endParaRPr lang="en-US" sz="1500" dirty="0"/>
          </a:p>
        </p:txBody>
      </p:sp>
      <p:sp>
        <p:nvSpPr>
          <p:cNvPr id="21" name="Text 19"/>
          <p:cNvSpPr/>
          <p:nvPr/>
        </p:nvSpPr>
        <p:spPr>
          <a:xfrm>
            <a:off x="6455664" y="3200400"/>
            <a:ext cx="2423160" cy="23774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Expand to all sensitive columns</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Stand up Database Vault realms</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Lock down ETL / MSTR / shell paths</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Onboard MX, CL, IN testers in waves</a:t>
            </a:r>
            <a:endParaRPr lang="en-US" sz="1050" dirty="0"/>
          </a:p>
        </p:txBody>
      </p:sp>
      <p:sp>
        <p:nvSpPr>
          <p:cNvPr id="22" name="Shape 20"/>
          <p:cNvSpPr/>
          <p:nvPr/>
        </p:nvSpPr>
        <p:spPr>
          <a:xfrm>
            <a:off x="9180576" y="1691640"/>
            <a:ext cx="2788920" cy="4023360"/>
          </a:xfrm>
          <a:prstGeom prst="rect">
            <a:avLst/>
          </a:prstGeom>
          <a:solidFill>
            <a:srgbClr val="FFFFFF"/>
          </a:solidFill>
          <a:ln w="9525">
            <a:solidFill>
              <a:srgbClr val="E2E8F0"/>
            </a:solidFill>
            <a:prstDash val="solid"/>
          </a:ln>
        </p:spPr>
      </p:sp>
      <p:sp>
        <p:nvSpPr>
          <p:cNvPr id="23" name="Shape 21"/>
          <p:cNvSpPr/>
          <p:nvPr/>
        </p:nvSpPr>
        <p:spPr>
          <a:xfrm>
            <a:off x="9180576" y="1691640"/>
            <a:ext cx="2788920" cy="777240"/>
          </a:xfrm>
          <a:prstGeom prst="rect">
            <a:avLst/>
          </a:prstGeom>
          <a:solidFill>
            <a:srgbClr val="10B981"/>
          </a:solidFill>
          <a:ln w="12700">
            <a:solidFill>
              <a:srgbClr val="10B981"/>
            </a:solidFill>
            <a:prstDash val="solid"/>
          </a:ln>
        </p:spPr>
      </p:sp>
      <p:sp>
        <p:nvSpPr>
          <p:cNvPr id="24" name="Text 22"/>
          <p:cNvSpPr/>
          <p:nvPr/>
        </p:nvSpPr>
        <p:spPr>
          <a:xfrm>
            <a:off x="9363456" y="1801368"/>
            <a:ext cx="2423160" cy="274320"/>
          </a:xfrm>
          <a:prstGeom prst="rect">
            <a:avLst/>
          </a:prstGeom>
          <a:noFill/>
          <a:ln/>
        </p:spPr>
        <p:txBody>
          <a:bodyPr wrap="square" lIns="0" tIns="0" rIns="0" bIns="0" rtlCol="0" anchor="ctr"/>
          <a:lstStyle/>
          <a:p>
            <a:pPr indent="0" marL="0">
              <a:buNone/>
            </a:pPr>
            <a:r>
              <a:rPr lang="en-US" sz="1100" b="1" spc="400" kern="0" dirty="0">
                <a:solidFill>
                  <a:srgbClr val="FFFFFF"/>
                </a:solidFill>
                <a:latin typeface="Calibri" pitchFamily="34" charset="0"/>
                <a:ea typeface="Calibri" pitchFamily="34" charset="-122"/>
                <a:cs typeface="Calibri" pitchFamily="34" charset="-120"/>
              </a:rPr>
              <a:t>PHASE 3</a:t>
            </a:r>
            <a:endParaRPr lang="en-US" sz="1100" dirty="0"/>
          </a:p>
        </p:txBody>
      </p:sp>
      <p:sp>
        <p:nvSpPr>
          <p:cNvPr id="25" name="Text 23"/>
          <p:cNvSpPr/>
          <p:nvPr/>
        </p:nvSpPr>
        <p:spPr>
          <a:xfrm>
            <a:off x="9363456" y="2075688"/>
            <a:ext cx="2423160" cy="274320"/>
          </a:xfrm>
          <a:prstGeom prst="rect">
            <a:avLst/>
          </a:prstGeom>
          <a:noFill/>
          <a:ln/>
        </p:spPr>
        <p:txBody>
          <a:bodyPr wrap="square" lIns="0" tIns="0" rIns="0" bIns="0"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Parallel · 6–12 mo</a:t>
            </a:r>
            <a:endParaRPr lang="en-US" sz="1100" dirty="0"/>
          </a:p>
        </p:txBody>
      </p:sp>
      <p:sp>
        <p:nvSpPr>
          <p:cNvPr id="26" name="Text 24"/>
          <p:cNvSpPr/>
          <p:nvPr/>
        </p:nvSpPr>
        <p:spPr>
          <a:xfrm>
            <a:off x="9363456" y="2606040"/>
            <a:ext cx="2423160" cy="502920"/>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Broadcom TDM masked UAT</a:t>
            </a:r>
            <a:endParaRPr lang="en-US" sz="1500" dirty="0"/>
          </a:p>
        </p:txBody>
      </p:sp>
      <p:sp>
        <p:nvSpPr>
          <p:cNvPr id="27" name="Text 25"/>
          <p:cNvSpPr/>
          <p:nvPr/>
        </p:nvSpPr>
        <p:spPr>
          <a:xfrm>
            <a:off x="9363456" y="3200400"/>
            <a:ext cx="2423160" cy="23774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Continue Broadcom TDM build for masked UAT</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Address volume challenges progressively</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Add masked file-feed generation pipeline</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Decommission runtime redaction once mature</a:t>
            </a:r>
            <a:endParaRPr lang="en-US" sz="1050" dirty="0"/>
          </a:p>
        </p:txBody>
      </p:sp>
      <p:sp>
        <p:nvSpPr>
          <p:cNvPr id="28" name="Text 26"/>
          <p:cNvSpPr/>
          <p:nvPr/>
        </p:nvSpPr>
        <p:spPr>
          <a:xfrm>
            <a:off x="457200" y="5897880"/>
            <a:ext cx="11247120" cy="365760"/>
          </a:xfrm>
          <a:prstGeom prst="rect">
            <a:avLst/>
          </a:prstGeom>
          <a:noFill/>
          <a:ln/>
        </p:spPr>
        <p:txBody>
          <a:bodyPr wrap="square" lIns="0" tIns="0" rIns="0" bIns="0" rtlCol="0" anchor="ctr"/>
          <a:lstStyle/>
          <a:p>
            <a:pPr algn="ctr" indent="0" marL="0">
              <a:buNone/>
            </a:pPr>
            <a:r>
              <a:rPr lang="en-US" sz="1300" b="1" i="1" dirty="0">
                <a:solidFill>
                  <a:srgbClr val="10B981"/>
                </a:solidFill>
                <a:latin typeface="Calibri" pitchFamily="34" charset="0"/>
                <a:ea typeface="Calibri" pitchFamily="34" charset="-122"/>
                <a:cs typeface="Calibri" pitchFamily="34" charset="-120"/>
              </a:rPr>
              <a:t>Runtime redaction is the bridge, not the destination</a:t>
            </a:r>
            <a:endParaRPr lang="en-US" sz="1300" dirty="0"/>
          </a:p>
        </p:txBody>
      </p:sp>
      <p:sp>
        <p:nvSpPr>
          <p:cNvPr id="29" name="Text 27"/>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Runtime Data Redaction in PTE  |  Commercial Cards QC Strategy</a:t>
            </a:r>
            <a:endParaRPr lang="en-US" sz="900" dirty="0"/>
          </a:p>
        </p:txBody>
      </p:sp>
      <p:sp>
        <p:nvSpPr>
          <p:cNvPr id="30" name="Text 28"/>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92608"/>
            <a:ext cx="11247120" cy="274320"/>
          </a:xfrm>
          <a:prstGeom prst="rect">
            <a:avLst/>
          </a:prstGeom>
          <a:noFill/>
          <a:ln/>
        </p:spPr>
        <p:txBody>
          <a:bodyPr wrap="square" lIns="0" tIns="0" rIns="0" bIns="0" rtlCol="0" anchor="ctr"/>
          <a:lstStyle/>
          <a:p>
            <a:pPr indent="0" marL="0">
              <a:buNone/>
            </a:pPr>
            <a:r>
              <a:rPr lang="en-US" sz="1100" b="1" spc="400" kern="0" dirty="0">
                <a:solidFill>
                  <a:srgbClr val="64748B"/>
                </a:solidFill>
                <a:latin typeface="Calibri" pitchFamily="34" charset="0"/>
                <a:ea typeface="Calibri" pitchFamily="34" charset="-122"/>
                <a:cs typeface="Calibri" pitchFamily="34" charset="-120"/>
              </a:rPr>
              <a:t>EXPECTED OUTCOMES</a:t>
            </a:r>
            <a:endParaRPr lang="en-US" sz="1100"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What this unlocks</a:t>
            </a:r>
            <a:endParaRPr lang="en-US" sz="2800" dirty="0"/>
          </a:p>
        </p:txBody>
      </p:sp>
      <p:sp>
        <p:nvSpPr>
          <p:cNvPr id="4" name="Shape 2"/>
          <p:cNvSpPr/>
          <p:nvPr/>
        </p:nvSpPr>
        <p:spPr>
          <a:xfrm>
            <a:off x="457200" y="1371600"/>
            <a:ext cx="11247120" cy="2011680"/>
          </a:xfrm>
          <a:prstGeom prst="rect">
            <a:avLst/>
          </a:prstGeom>
          <a:solidFill>
            <a:srgbClr val="1E2761"/>
          </a:solidFill>
          <a:ln w="12700">
            <a:solidFill>
              <a:srgbClr val="1E2761"/>
            </a:solidFill>
            <a:prstDash val="solid"/>
          </a:ln>
        </p:spPr>
      </p:sp>
      <p:sp>
        <p:nvSpPr>
          <p:cNvPr id="5" name="Text 3"/>
          <p:cNvSpPr/>
          <p:nvPr/>
        </p:nvSpPr>
        <p:spPr>
          <a:xfrm>
            <a:off x="822960" y="1554480"/>
            <a:ext cx="3657600" cy="274320"/>
          </a:xfrm>
          <a:prstGeom prst="rect">
            <a:avLst/>
          </a:prstGeom>
          <a:noFill/>
          <a:ln/>
        </p:spPr>
        <p:txBody>
          <a:bodyPr wrap="square" lIns="0" tIns="0" rIns="0" bIns="0" rtlCol="0" anchor="ctr"/>
          <a:lstStyle/>
          <a:p>
            <a:pPr indent="0" marL="0">
              <a:buNone/>
            </a:pPr>
            <a:r>
              <a:rPr lang="en-US" sz="1100" b="1" spc="400" kern="0" dirty="0">
                <a:solidFill>
                  <a:srgbClr val="CADCFC"/>
                </a:solidFill>
                <a:latin typeface="Calibri" pitchFamily="34" charset="0"/>
                <a:ea typeface="Calibri" pitchFamily="34" charset="-122"/>
                <a:cs typeface="Calibri" pitchFamily="34" charset="-120"/>
              </a:rPr>
              <a:t>FROM</a:t>
            </a:r>
            <a:endParaRPr lang="en-US" sz="1100" dirty="0"/>
          </a:p>
        </p:txBody>
      </p:sp>
      <p:sp>
        <p:nvSpPr>
          <p:cNvPr id="6" name="Text 4"/>
          <p:cNvSpPr/>
          <p:nvPr/>
        </p:nvSpPr>
        <p:spPr>
          <a:xfrm>
            <a:off x="822960" y="1828800"/>
            <a:ext cx="3657600" cy="1280160"/>
          </a:xfrm>
          <a:prstGeom prst="rect">
            <a:avLst/>
          </a:prstGeom>
          <a:noFill/>
          <a:ln/>
        </p:spPr>
        <p:txBody>
          <a:bodyPr wrap="square" lIns="0" tIns="0" rIns="0" bIns="0" rtlCol="0" anchor="ctr"/>
          <a:lstStyle/>
          <a:p>
            <a:pPr indent="0" marL="0">
              <a:buNone/>
            </a:pPr>
            <a:r>
              <a:rPr lang="en-US" sz="7200" b="1" dirty="0">
                <a:solidFill>
                  <a:srgbClr val="FFFFFF"/>
                </a:solidFill>
                <a:latin typeface="Georgia" pitchFamily="34" charset="0"/>
                <a:ea typeface="Georgia" pitchFamily="34" charset="-122"/>
                <a:cs typeface="Georgia" pitchFamily="34" charset="-120"/>
              </a:rPr>
              <a:t>5%</a:t>
            </a:r>
            <a:endParaRPr lang="en-US" sz="7200" dirty="0"/>
          </a:p>
        </p:txBody>
      </p:sp>
      <p:sp>
        <p:nvSpPr>
          <p:cNvPr id="7" name="Text 5"/>
          <p:cNvSpPr/>
          <p:nvPr/>
        </p:nvSpPr>
        <p:spPr>
          <a:xfrm>
            <a:off x="822960" y="2971800"/>
            <a:ext cx="3657600" cy="27432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of testing capacity</a:t>
            </a:r>
            <a:endParaRPr lang="en-US" sz="1300" dirty="0"/>
          </a:p>
        </p:txBody>
      </p:sp>
      <p:pic>
        <p:nvPicPr>
          <p:cNvPr id="8" name="Image 0" descr="preencoded.png">    </p:cNvPr>
          <p:cNvPicPr>
            <a:picLocks noChangeAspect="1"/>
          </p:cNvPicPr>
          <p:nvPr/>
        </p:nvPicPr>
        <p:blipFill>
          <a:blip r:embed="rId1"/>
          <a:stretch>
            <a:fillRect/>
          </a:stretch>
        </p:blipFill>
        <p:spPr>
          <a:xfrm>
            <a:off x="5486400" y="2194560"/>
            <a:ext cx="914400" cy="640080"/>
          </a:xfrm>
          <a:prstGeom prst="rect">
            <a:avLst/>
          </a:prstGeom>
        </p:spPr>
      </p:pic>
      <p:sp>
        <p:nvSpPr>
          <p:cNvPr id="9" name="Text 6"/>
          <p:cNvSpPr/>
          <p:nvPr/>
        </p:nvSpPr>
        <p:spPr>
          <a:xfrm>
            <a:off x="7589520" y="1554480"/>
            <a:ext cx="3657600" cy="274320"/>
          </a:xfrm>
          <a:prstGeom prst="rect">
            <a:avLst/>
          </a:prstGeom>
          <a:noFill/>
          <a:ln/>
        </p:spPr>
        <p:txBody>
          <a:bodyPr wrap="square" lIns="0" tIns="0" rIns="0" bIns="0" rtlCol="0" anchor="ctr"/>
          <a:lstStyle/>
          <a:p>
            <a:pPr indent="0" marL="0">
              <a:buNone/>
            </a:pPr>
            <a:r>
              <a:rPr lang="en-US" sz="1100" b="1" spc="400" kern="0" dirty="0">
                <a:solidFill>
                  <a:srgbClr val="10B981"/>
                </a:solidFill>
                <a:latin typeface="Calibri" pitchFamily="34" charset="0"/>
                <a:ea typeface="Calibri" pitchFamily="34" charset="-122"/>
                <a:cs typeface="Calibri" pitchFamily="34" charset="-120"/>
              </a:rPr>
              <a:t>TO</a:t>
            </a:r>
            <a:endParaRPr lang="en-US" sz="1100" dirty="0"/>
          </a:p>
        </p:txBody>
      </p:sp>
      <p:sp>
        <p:nvSpPr>
          <p:cNvPr id="10" name="Text 7"/>
          <p:cNvSpPr/>
          <p:nvPr/>
        </p:nvSpPr>
        <p:spPr>
          <a:xfrm>
            <a:off x="7589520" y="1828800"/>
            <a:ext cx="4114800" cy="1280160"/>
          </a:xfrm>
          <a:prstGeom prst="rect">
            <a:avLst/>
          </a:prstGeom>
          <a:noFill/>
          <a:ln/>
        </p:spPr>
        <p:txBody>
          <a:bodyPr wrap="square" lIns="0" tIns="0" rIns="0" bIns="0" rtlCol="0" anchor="ctr"/>
          <a:lstStyle/>
          <a:p>
            <a:pPr indent="0" marL="0">
              <a:buNone/>
            </a:pPr>
            <a:r>
              <a:rPr lang="en-US" sz="7200" b="1" dirty="0">
                <a:solidFill>
                  <a:srgbClr val="FFFFFF"/>
                </a:solidFill>
                <a:latin typeface="Georgia" pitchFamily="34" charset="0"/>
                <a:ea typeface="Georgia" pitchFamily="34" charset="-122"/>
                <a:cs typeface="Georgia" pitchFamily="34" charset="-120"/>
              </a:rPr>
              <a:t>70–80%</a:t>
            </a:r>
            <a:endParaRPr lang="en-US" sz="7200" dirty="0"/>
          </a:p>
        </p:txBody>
      </p:sp>
      <p:sp>
        <p:nvSpPr>
          <p:cNvPr id="11" name="Text 8"/>
          <p:cNvSpPr/>
          <p:nvPr/>
        </p:nvSpPr>
        <p:spPr>
          <a:xfrm>
            <a:off x="7589520" y="2971800"/>
            <a:ext cx="4114800" cy="27432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of testing capacity unlocked</a:t>
            </a:r>
            <a:endParaRPr lang="en-US" sz="1300" dirty="0"/>
          </a:p>
        </p:txBody>
      </p:sp>
      <p:sp>
        <p:nvSpPr>
          <p:cNvPr id="12" name="Shape 9"/>
          <p:cNvSpPr/>
          <p:nvPr/>
        </p:nvSpPr>
        <p:spPr>
          <a:xfrm>
            <a:off x="457200" y="3657600"/>
            <a:ext cx="2743200" cy="2286000"/>
          </a:xfrm>
          <a:prstGeom prst="rect">
            <a:avLst/>
          </a:prstGeom>
          <a:solidFill>
            <a:srgbClr val="FFFFFF"/>
          </a:solidFill>
          <a:ln w="9525">
            <a:solidFill>
              <a:srgbClr val="E2E8F0"/>
            </a:solidFill>
            <a:prstDash val="solid"/>
          </a:ln>
        </p:spPr>
      </p:sp>
      <p:sp>
        <p:nvSpPr>
          <p:cNvPr id="13" name="Shape 10"/>
          <p:cNvSpPr/>
          <p:nvPr/>
        </p:nvSpPr>
        <p:spPr>
          <a:xfrm>
            <a:off x="1508760" y="3931920"/>
            <a:ext cx="640080" cy="640080"/>
          </a:xfrm>
          <a:prstGeom prst="ellipse">
            <a:avLst/>
          </a:prstGeom>
          <a:solidFill>
            <a:srgbClr val="CADCFC"/>
          </a:solidFill>
          <a:ln w="12700">
            <a:solidFill>
              <a:srgbClr val="CADCFC"/>
            </a:solidFill>
            <a:prstDash val="solid"/>
          </a:ln>
        </p:spPr>
      </p:sp>
      <p:pic>
        <p:nvPicPr>
          <p:cNvPr id="14" name="Image 1" descr="preencoded.png">    </p:cNvPr>
          <p:cNvPicPr>
            <a:picLocks noChangeAspect="1"/>
          </p:cNvPicPr>
          <p:nvPr/>
        </p:nvPicPr>
        <p:blipFill>
          <a:blip r:embed="rId2"/>
          <a:stretch>
            <a:fillRect/>
          </a:stretch>
        </p:blipFill>
        <p:spPr>
          <a:xfrm>
            <a:off x="1645920" y="4069080"/>
            <a:ext cx="365760" cy="365760"/>
          </a:xfrm>
          <a:prstGeom prst="rect">
            <a:avLst/>
          </a:prstGeom>
        </p:spPr>
      </p:pic>
      <p:sp>
        <p:nvSpPr>
          <p:cNvPr id="15" name="Text 11"/>
          <p:cNvSpPr/>
          <p:nvPr/>
        </p:nvSpPr>
        <p:spPr>
          <a:xfrm>
            <a:off x="594360" y="4709160"/>
            <a:ext cx="2468880" cy="5029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Global team activated</a:t>
            </a:r>
            <a:endParaRPr lang="en-US" sz="1300" dirty="0"/>
          </a:p>
        </p:txBody>
      </p:sp>
      <p:sp>
        <p:nvSpPr>
          <p:cNvPr id="16" name="Text 12"/>
          <p:cNvSpPr/>
          <p:nvPr/>
        </p:nvSpPr>
        <p:spPr>
          <a:xfrm>
            <a:off x="640080" y="5212080"/>
            <a:ext cx="2377440" cy="685800"/>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Mexico, Chile and India testers can run functional cycles against PROD-quality data.</a:t>
            </a:r>
            <a:endParaRPr lang="en-US" sz="1100" dirty="0"/>
          </a:p>
        </p:txBody>
      </p:sp>
      <p:sp>
        <p:nvSpPr>
          <p:cNvPr id="17" name="Shape 13"/>
          <p:cNvSpPr/>
          <p:nvPr/>
        </p:nvSpPr>
        <p:spPr>
          <a:xfrm>
            <a:off x="3291840" y="3657600"/>
            <a:ext cx="2743200" cy="2286000"/>
          </a:xfrm>
          <a:prstGeom prst="rect">
            <a:avLst/>
          </a:prstGeom>
          <a:solidFill>
            <a:srgbClr val="FFFFFF"/>
          </a:solidFill>
          <a:ln w="9525">
            <a:solidFill>
              <a:srgbClr val="E2E8F0"/>
            </a:solidFill>
            <a:prstDash val="solid"/>
          </a:ln>
        </p:spPr>
      </p:sp>
      <p:sp>
        <p:nvSpPr>
          <p:cNvPr id="18" name="Shape 14"/>
          <p:cNvSpPr/>
          <p:nvPr/>
        </p:nvSpPr>
        <p:spPr>
          <a:xfrm>
            <a:off x="4343400" y="3931920"/>
            <a:ext cx="640080" cy="640080"/>
          </a:xfrm>
          <a:prstGeom prst="ellipse">
            <a:avLst/>
          </a:prstGeom>
          <a:solidFill>
            <a:srgbClr val="CADCFC"/>
          </a:solidFill>
          <a:ln w="12700">
            <a:solidFill>
              <a:srgbClr val="CADCFC"/>
            </a:solidFill>
            <a:prstDash val="solid"/>
          </a:ln>
        </p:spPr>
      </p:sp>
      <p:pic>
        <p:nvPicPr>
          <p:cNvPr id="19" name="Image 2" descr="preencoded.png">    </p:cNvPr>
          <p:cNvPicPr>
            <a:picLocks noChangeAspect="1"/>
          </p:cNvPicPr>
          <p:nvPr/>
        </p:nvPicPr>
        <p:blipFill>
          <a:blip r:embed="rId3"/>
          <a:stretch>
            <a:fillRect/>
          </a:stretch>
        </p:blipFill>
        <p:spPr>
          <a:xfrm>
            <a:off x="4480560" y="4069080"/>
            <a:ext cx="365760" cy="365760"/>
          </a:xfrm>
          <a:prstGeom prst="rect">
            <a:avLst/>
          </a:prstGeom>
        </p:spPr>
      </p:pic>
      <p:sp>
        <p:nvSpPr>
          <p:cNvPr id="20" name="Text 15"/>
          <p:cNvSpPr/>
          <p:nvPr/>
        </p:nvSpPr>
        <p:spPr>
          <a:xfrm>
            <a:off x="3429000" y="4709160"/>
            <a:ext cx="2468880" cy="5029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Closer to true coverage</a:t>
            </a:r>
            <a:endParaRPr lang="en-US" sz="1300" dirty="0"/>
          </a:p>
        </p:txBody>
      </p:sp>
      <p:sp>
        <p:nvSpPr>
          <p:cNvPr id="21" name="Text 16"/>
          <p:cNvSpPr/>
          <p:nvPr/>
        </p:nvSpPr>
        <p:spPr>
          <a:xfrm>
            <a:off x="3474720" y="5212080"/>
            <a:ext cx="2377440" cy="685800"/>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Most functional scenarios that today only run on PTE can now be exercised broadly.</a:t>
            </a:r>
            <a:endParaRPr lang="en-US" sz="1100" dirty="0"/>
          </a:p>
        </p:txBody>
      </p:sp>
      <p:sp>
        <p:nvSpPr>
          <p:cNvPr id="22" name="Shape 17"/>
          <p:cNvSpPr/>
          <p:nvPr/>
        </p:nvSpPr>
        <p:spPr>
          <a:xfrm>
            <a:off x="6126480" y="3657600"/>
            <a:ext cx="2743200" cy="2286000"/>
          </a:xfrm>
          <a:prstGeom prst="rect">
            <a:avLst/>
          </a:prstGeom>
          <a:solidFill>
            <a:srgbClr val="FFFFFF"/>
          </a:solidFill>
          <a:ln w="9525">
            <a:solidFill>
              <a:srgbClr val="E2E8F0"/>
            </a:solidFill>
            <a:prstDash val="solid"/>
          </a:ln>
        </p:spPr>
      </p:sp>
      <p:sp>
        <p:nvSpPr>
          <p:cNvPr id="23" name="Shape 18"/>
          <p:cNvSpPr/>
          <p:nvPr/>
        </p:nvSpPr>
        <p:spPr>
          <a:xfrm>
            <a:off x="7178040" y="3931920"/>
            <a:ext cx="640080" cy="640080"/>
          </a:xfrm>
          <a:prstGeom prst="ellipse">
            <a:avLst/>
          </a:prstGeom>
          <a:solidFill>
            <a:srgbClr val="CADCFC"/>
          </a:solidFill>
          <a:ln w="12700">
            <a:solidFill>
              <a:srgbClr val="CADCFC"/>
            </a:solidFill>
            <a:prstDash val="solid"/>
          </a:ln>
        </p:spPr>
      </p:sp>
      <p:pic>
        <p:nvPicPr>
          <p:cNvPr id="24" name="Image 3" descr="preencoded.png">    </p:cNvPr>
          <p:cNvPicPr>
            <a:picLocks noChangeAspect="1"/>
          </p:cNvPicPr>
          <p:nvPr/>
        </p:nvPicPr>
        <p:blipFill>
          <a:blip r:embed="rId4"/>
          <a:stretch>
            <a:fillRect/>
          </a:stretch>
        </p:blipFill>
        <p:spPr>
          <a:xfrm>
            <a:off x="7315200" y="4069080"/>
            <a:ext cx="365760" cy="365760"/>
          </a:xfrm>
          <a:prstGeom prst="rect">
            <a:avLst/>
          </a:prstGeom>
        </p:spPr>
      </p:pic>
      <p:sp>
        <p:nvSpPr>
          <p:cNvPr id="25" name="Text 19"/>
          <p:cNvSpPr/>
          <p:nvPr/>
        </p:nvSpPr>
        <p:spPr>
          <a:xfrm>
            <a:off x="6263640" y="4709160"/>
            <a:ext cx="2468880" cy="5029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No second env to operate</a:t>
            </a:r>
            <a:endParaRPr lang="en-US" sz="1300" dirty="0"/>
          </a:p>
        </p:txBody>
      </p:sp>
      <p:sp>
        <p:nvSpPr>
          <p:cNvPr id="26" name="Text 20"/>
          <p:cNvSpPr/>
          <p:nvPr/>
        </p:nvSpPr>
        <p:spPr>
          <a:xfrm>
            <a:off x="6309360" y="5212080"/>
            <a:ext cx="2377440" cy="685800"/>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Saves the cost and team-load of standing up and refreshing another PROD-grade copy.</a:t>
            </a:r>
            <a:endParaRPr lang="en-US" sz="1100" dirty="0"/>
          </a:p>
        </p:txBody>
      </p:sp>
      <p:sp>
        <p:nvSpPr>
          <p:cNvPr id="27" name="Shape 21"/>
          <p:cNvSpPr/>
          <p:nvPr/>
        </p:nvSpPr>
        <p:spPr>
          <a:xfrm>
            <a:off x="8961120" y="3657600"/>
            <a:ext cx="2743200" cy="2286000"/>
          </a:xfrm>
          <a:prstGeom prst="rect">
            <a:avLst/>
          </a:prstGeom>
          <a:solidFill>
            <a:srgbClr val="FFFFFF"/>
          </a:solidFill>
          <a:ln w="9525">
            <a:solidFill>
              <a:srgbClr val="E2E8F0"/>
            </a:solidFill>
            <a:prstDash val="solid"/>
          </a:ln>
        </p:spPr>
      </p:sp>
      <p:sp>
        <p:nvSpPr>
          <p:cNvPr id="28" name="Shape 22"/>
          <p:cNvSpPr/>
          <p:nvPr/>
        </p:nvSpPr>
        <p:spPr>
          <a:xfrm>
            <a:off x="10012680" y="3931920"/>
            <a:ext cx="640080" cy="640080"/>
          </a:xfrm>
          <a:prstGeom prst="ellipse">
            <a:avLst/>
          </a:prstGeom>
          <a:solidFill>
            <a:srgbClr val="CADCFC"/>
          </a:solidFill>
          <a:ln w="12700">
            <a:solidFill>
              <a:srgbClr val="CADCFC"/>
            </a:solidFill>
            <a:prstDash val="solid"/>
          </a:ln>
        </p:spPr>
      </p:sp>
      <p:pic>
        <p:nvPicPr>
          <p:cNvPr id="29" name="Image 4" descr="preencoded.png">    </p:cNvPr>
          <p:cNvPicPr>
            <a:picLocks noChangeAspect="1"/>
          </p:cNvPicPr>
          <p:nvPr/>
        </p:nvPicPr>
        <p:blipFill>
          <a:blip r:embed="rId5"/>
          <a:stretch>
            <a:fillRect/>
          </a:stretch>
        </p:blipFill>
        <p:spPr>
          <a:xfrm>
            <a:off x="10149840" y="4069080"/>
            <a:ext cx="365760" cy="365760"/>
          </a:xfrm>
          <a:prstGeom prst="rect">
            <a:avLst/>
          </a:prstGeom>
        </p:spPr>
      </p:pic>
      <p:sp>
        <p:nvSpPr>
          <p:cNvPr id="30" name="Text 23"/>
          <p:cNvSpPr/>
          <p:nvPr/>
        </p:nvSpPr>
        <p:spPr>
          <a:xfrm>
            <a:off x="9098280" y="4709160"/>
            <a:ext cx="2468880" cy="5029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Buys time for TDM</a:t>
            </a:r>
            <a:endParaRPr lang="en-US" sz="1300" dirty="0"/>
          </a:p>
        </p:txBody>
      </p:sp>
      <p:sp>
        <p:nvSpPr>
          <p:cNvPr id="31" name="Text 24"/>
          <p:cNvSpPr/>
          <p:nvPr/>
        </p:nvSpPr>
        <p:spPr>
          <a:xfrm>
            <a:off x="9144000" y="5212080"/>
            <a:ext cx="2377440" cy="685800"/>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Removes capacity pressure while Broadcom TDM builds the proper masked UAT.</a:t>
            </a:r>
            <a:endParaRPr lang="en-US" sz="1100" dirty="0"/>
          </a:p>
        </p:txBody>
      </p:sp>
      <p:sp>
        <p:nvSpPr>
          <p:cNvPr id="32" name="Text 25"/>
          <p:cNvSpPr/>
          <p:nvPr/>
        </p:nvSpPr>
        <p:spPr>
          <a:xfrm>
            <a:off x="457200" y="6126480"/>
            <a:ext cx="11247120"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Realistic caveat: ~20% of test cases (those needing full raw PAN/PII) still funnel through the US-cleared team.</a:t>
            </a:r>
            <a:endParaRPr lang="en-US" sz="1100" dirty="0"/>
          </a:p>
        </p:txBody>
      </p:sp>
      <p:sp>
        <p:nvSpPr>
          <p:cNvPr id="33" name="Text 26"/>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Runtime Data Redaction in PTE  |  Commercial Cards QC Strategy</a:t>
            </a:r>
            <a:endParaRPr lang="en-US" sz="900" dirty="0"/>
          </a:p>
        </p:txBody>
      </p:sp>
      <p:sp>
        <p:nvSpPr>
          <p:cNvPr id="34" name="Text 27"/>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92608"/>
            <a:ext cx="11247120" cy="274320"/>
          </a:xfrm>
          <a:prstGeom prst="rect">
            <a:avLst/>
          </a:prstGeom>
          <a:noFill/>
          <a:ln/>
        </p:spPr>
        <p:txBody>
          <a:bodyPr wrap="square" lIns="0" tIns="0" rIns="0" bIns="0" rtlCol="0" anchor="ctr"/>
          <a:lstStyle/>
          <a:p>
            <a:pPr indent="0" marL="0">
              <a:buNone/>
            </a:pPr>
            <a:r>
              <a:rPr lang="en-US" sz="1100" b="1" spc="400" kern="0" dirty="0">
                <a:solidFill>
                  <a:srgbClr val="64748B"/>
                </a:solidFill>
                <a:latin typeface="Calibri" pitchFamily="34" charset="0"/>
                <a:ea typeface="Calibri" pitchFamily="34" charset="-122"/>
                <a:cs typeface="Calibri" pitchFamily="34" charset="-120"/>
              </a:rPr>
              <a:t>DECISIONS NEEDED</a:t>
            </a:r>
            <a:endParaRPr lang="en-US" sz="1100"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Open questions for the team &amp; management</a:t>
            </a:r>
            <a:endParaRPr lang="en-US" sz="2800" dirty="0"/>
          </a:p>
        </p:txBody>
      </p:sp>
      <p:sp>
        <p:nvSpPr>
          <p:cNvPr id="4" name="Text 2"/>
          <p:cNvSpPr/>
          <p:nvPr/>
        </p:nvSpPr>
        <p:spPr>
          <a:xfrm>
            <a:off x="457200" y="1280160"/>
            <a:ext cx="11247120" cy="36576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Five questions whose answers shape whether this is a 12-month stopgap or a non-starter. Worth resolving before Phase 1 investment.</a:t>
            </a:r>
            <a:endParaRPr lang="en-US" sz="1200" dirty="0"/>
          </a:p>
        </p:txBody>
      </p:sp>
      <p:sp>
        <p:nvSpPr>
          <p:cNvPr id="5" name="Shape 3"/>
          <p:cNvSpPr/>
          <p:nvPr/>
        </p:nvSpPr>
        <p:spPr>
          <a:xfrm>
            <a:off x="457200" y="1828800"/>
            <a:ext cx="11338560" cy="777240"/>
          </a:xfrm>
          <a:prstGeom prst="rect">
            <a:avLst/>
          </a:prstGeom>
          <a:solidFill>
            <a:srgbClr val="FFFFFF"/>
          </a:solidFill>
          <a:ln w="6350">
            <a:solidFill>
              <a:srgbClr val="E2E8F0"/>
            </a:solidFill>
            <a:prstDash val="solid"/>
          </a:ln>
        </p:spPr>
      </p:sp>
      <p:sp>
        <p:nvSpPr>
          <p:cNvPr id="6" name="Shape 4"/>
          <p:cNvSpPr/>
          <p:nvPr/>
        </p:nvSpPr>
        <p:spPr>
          <a:xfrm>
            <a:off x="457200" y="1828800"/>
            <a:ext cx="73152" cy="777240"/>
          </a:xfrm>
          <a:prstGeom prst="rect">
            <a:avLst/>
          </a:prstGeom>
          <a:solidFill>
            <a:srgbClr val="F59E0B"/>
          </a:solidFill>
          <a:ln w="12700">
            <a:solidFill>
              <a:srgbClr val="F59E0B"/>
            </a:solidFill>
            <a:prstDash val="solid"/>
          </a:ln>
        </p:spPr>
      </p:sp>
      <p:sp>
        <p:nvSpPr>
          <p:cNvPr id="7" name="Shape 5"/>
          <p:cNvSpPr/>
          <p:nvPr/>
        </p:nvSpPr>
        <p:spPr>
          <a:xfrm>
            <a:off x="685800" y="2029968"/>
            <a:ext cx="384048" cy="384048"/>
          </a:xfrm>
          <a:prstGeom prst="ellipse">
            <a:avLst/>
          </a:prstGeom>
          <a:solidFill>
            <a:srgbClr val="1E2761"/>
          </a:solidFill>
          <a:ln w="12700">
            <a:solidFill>
              <a:srgbClr val="1E2761"/>
            </a:solidFill>
            <a:prstDash val="solid"/>
          </a:ln>
        </p:spPr>
      </p:sp>
      <p:sp>
        <p:nvSpPr>
          <p:cNvPr id="8" name="Text 6"/>
          <p:cNvSpPr/>
          <p:nvPr/>
        </p:nvSpPr>
        <p:spPr>
          <a:xfrm>
            <a:off x="685800" y="2011680"/>
            <a:ext cx="384048"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9" name="Text 7"/>
          <p:cNvSpPr/>
          <p:nvPr/>
        </p:nvSpPr>
        <p:spPr>
          <a:xfrm>
            <a:off x="1234440" y="1920240"/>
            <a:ext cx="7772400" cy="64008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Will the QSA accept runtime redaction on a still-raw PTE as adequate control for the broader population?</a:t>
            </a:r>
            <a:endParaRPr lang="en-US" sz="1200" dirty="0"/>
          </a:p>
        </p:txBody>
      </p:sp>
      <p:sp>
        <p:nvSpPr>
          <p:cNvPr id="10" name="Text 8"/>
          <p:cNvSpPr/>
          <p:nvPr/>
        </p:nvSpPr>
        <p:spPr>
          <a:xfrm>
            <a:off x="9144000" y="1947672"/>
            <a:ext cx="2560320"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PCI Compliance · Risk</a:t>
            </a:r>
            <a:endParaRPr lang="en-US" sz="1050" dirty="0"/>
          </a:p>
        </p:txBody>
      </p:sp>
      <p:sp>
        <p:nvSpPr>
          <p:cNvPr id="11" name="Text 9"/>
          <p:cNvSpPr/>
          <p:nvPr/>
        </p:nvSpPr>
        <p:spPr>
          <a:xfrm>
            <a:off x="9144000" y="2240280"/>
            <a:ext cx="256032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Impact: Highest</a:t>
            </a:r>
            <a:endParaRPr lang="en-US" sz="1000" dirty="0"/>
          </a:p>
        </p:txBody>
      </p:sp>
      <p:sp>
        <p:nvSpPr>
          <p:cNvPr id="12" name="Shape 10"/>
          <p:cNvSpPr/>
          <p:nvPr/>
        </p:nvSpPr>
        <p:spPr>
          <a:xfrm>
            <a:off x="457200" y="2679192"/>
            <a:ext cx="11338560" cy="777240"/>
          </a:xfrm>
          <a:prstGeom prst="rect">
            <a:avLst/>
          </a:prstGeom>
          <a:solidFill>
            <a:srgbClr val="FFFFFF"/>
          </a:solidFill>
          <a:ln w="6350">
            <a:solidFill>
              <a:srgbClr val="E2E8F0"/>
            </a:solidFill>
            <a:prstDash val="solid"/>
          </a:ln>
        </p:spPr>
      </p:sp>
      <p:sp>
        <p:nvSpPr>
          <p:cNvPr id="13" name="Shape 11"/>
          <p:cNvSpPr/>
          <p:nvPr/>
        </p:nvSpPr>
        <p:spPr>
          <a:xfrm>
            <a:off x="457200" y="2679192"/>
            <a:ext cx="73152" cy="777240"/>
          </a:xfrm>
          <a:prstGeom prst="rect">
            <a:avLst/>
          </a:prstGeom>
          <a:solidFill>
            <a:srgbClr val="F59E0B"/>
          </a:solidFill>
          <a:ln w="12700">
            <a:solidFill>
              <a:srgbClr val="F59E0B"/>
            </a:solidFill>
            <a:prstDash val="solid"/>
          </a:ln>
        </p:spPr>
      </p:sp>
      <p:sp>
        <p:nvSpPr>
          <p:cNvPr id="14" name="Shape 12"/>
          <p:cNvSpPr/>
          <p:nvPr/>
        </p:nvSpPr>
        <p:spPr>
          <a:xfrm>
            <a:off x="685800" y="2880360"/>
            <a:ext cx="384048" cy="384048"/>
          </a:xfrm>
          <a:prstGeom prst="ellipse">
            <a:avLst/>
          </a:prstGeom>
          <a:solidFill>
            <a:srgbClr val="1E2761"/>
          </a:solidFill>
          <a:ln w="12700">
            <a:solidFill>
              <a:srgbClr val="1E2761"/>
            </a:solidFill>
            <a:prstDash val="solid"/>
          </a:ln>
        </p:spPr>
      </p:sp>
      <p:sp>
        <p:nvSpPr>
          <p:cNvPr id="15" name="Text 13"/>
          <p:cNvSpPr/>
          <p:nvPr/>
        </p:nvSpPr>
        <p:spPr>
          <a:xfrm>
            <a:off x="685800" y="2862072"/>
            <a:ext cx="384048"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16" name="Text 14"/>
          <p:cNvSpPr/>
          <p:nvPr/>
        </p:nvSpPr>
        <p:spPr>
          <a:xfrm>
            <a:off x="1234440" y="2770632"/>
            <a:ext cx="7772400" cy="64008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Do we already own Oracle Advanced Security and Database Vault, or do we need to procure them?</a:t>
            </a:r>
            <a:endParaRPr lang="en-US" sz="1200" dirty="0"/>
          </a:p>
        </p:txBody>
      </p:sp>
      <p:sp>
        <p:nvSpPr>
          <p:cNvPr id="17" name="Text 15"/>
          <p:cNvSpPr/>
          <p:nvPr/>
        </p:nvSpPr>
        <p:spPr>
          <a:xfrm>
            <a:off x="9144000" y="2798064"/>
            <a:ext cx="2560320"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DBA · Procurement</a:t>
            </a:r>
            <a:endParaRPr lang="en-US" sz="1050" dirty="0"/>
          </a:p>
        </p:txBody>
      </p:sp>
      <p:sp>
        <p:nvSpPr>
          <p:cNvPr id="18" name="Text 16"/>
          <p:cNvSpPr/>
          <p:nvPr/>
        </p:nvSpPr>
        <p:spPr>
          <a:xfrm>
            <a:off x="9144000" y="3090672"/>
            <a:ext cx="256032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Impact: Schedule + cost</a:t>
            </a:r>
            <a:endParaRPr lang="en-US" sz="1000" dirty="0"/>
          </a:p>
        </p:txBody>
      </p:sp>
      <p:sp>
        <p:nvSpPr>
          <p:cNvPr id="19" name="Shape 17"/>
          <p:cNvSpPr/>
          <p:nvPr/>
        </p:nvSpPr>
        <p:spPr>
          <a:xfrm>
            <a:off x="457200" y="3529584"/>
            <a:ext cx="11338560" cy="777240"/>
          </a:xfrm>
          <a:prstGeom prst="rect">
            <a:avLst/>
          </a:prstGeom>
          <a:solidFill>
            <a:srgbClr val="FFFFFF"/>
          </a:solidFill>
          <a:ln w="6350">
            <a:solidFill>
              <a:srgbClr val="E2E8F0"/>
            </a:solidFill>
            <a:prstDash val="solid"/>
          </a:ln>
        </p:spPr>
      </p:sp>
      <p:sp>
        <p:nvSpPr>
          <p:cNvPr id="20" name="Shape 18"/>
          <p:cNvSpPr/>
          <p:nvPr/>
        </p:nvSpPr>
        <p:spPr>
          <a:xfrm>
            <a:off x="457200" y="3529584"/>
            <a:ext cx="73152" cy="777240"/>
          </a:xfrm>
          <a:prstGeom prst="rect">
            <a:avLst/>
          </a:prstGeom>
          <a:solidFill>
            <a:srgbClr val="F59E0B"/>
          </a:solidFill>
          <a:ln w="12700">
            <a:solidFill>
              <a:srgbClr val="F59E0B"/>
            </a:solidFill>
            <a:prstDash val="solid"/>
          </a:ln>
        </p:spPr>
      </p:sp>
      <p:sp>
        <p:nvSpPr>
          <p:cNvPr id="21" name="Shape 19"/>
          <p:cNvSpPr/>
          <p:nvPr/>
        </p:nvSpPr>
        <p:spPr>
          <a:xfrm>
            <a:off x="685800" y="3730752"/>
            <a:ext cx="384048" cy="384048"/>
          </a:xfrm>
          <a:prstGeom prst="ellipse">
            <a:avLst/>
          </a:prstGeom>
          <a:solidFill>
            <a:srgbClr val="1E2761"/>
          </a:solidFill>
          <a:ln w="12700">
            <a:solidFill>
              <a:srgbClr val="1E2761"/>
            </a:solidFill>
            <a:prstDash val="solid"/>
          </a:ln>
        </p:spPr>
      </p:sp>
      <p:sp>
        <p:nvSpPr>
          <p:cNvPr id="22" name="Text 20"/>
          <p:cNvSpPr/>
          <p:nvPr/>
        </p:nvSpPr>
        <p:spPr>
          <a:xfrm>
            <a:off x="685800" y="3712464"/>
            <a:ext cx="384048"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23" name="Text 21"/>
          <p:cNvSpPr/>
          <p:nvPr/>
        </p:nvSpPr>
        <p:spPr>
          <a:xfrm>
            <a:off x="1234440" y="3621024"/>
            <a:ext cx="7772400" cy="64008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Which sensitive columns can use PARTIAL (6+4) and which require FULL? How does this affect our existing test suite?</a:t>
            </a:r>
            <a:endParaRPr lang="en-US" sz="1200" dirty="0"/>
          </a:p>
        </p:txBody>
      </p:sp>
      <p:sp>
        <p:nvSpPr>
          <p:cNvPr id="24" name="Text 22"/>
          <p:cNvSpPr/>
          <p:nvPr/>
        </p:nvSpPr>
        <p:spPr>
          <a:xfrm>
            <a:off x="9144000" y="3648456"/>
            <a:ext cx="2560320"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QC Leads · Data Owners</a:t>
            </a:r>
            <a:endParaRPr lang="en-US" sz="1050" dirty="0"/>
          </a:p>
        </p:txBody>
      </p:sp>
      <p:sp>
        <p:nvSpPr>
          <p:cNvPr id="25" name="Text 23"/>
          <p:cNvSpPr/>
          <p:nvPr/>
        </p:nvSpPr>
        <p:spPr>
          <a:xfrm>
            <a:off x="9144000" y="3941064"/>
            <a:ext cx="256032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Impact: Coverage</a:t>
            </a:r>
            <a:endParaRPr lang="en-US" sz="1000" dirty="0"/>
          </a:p>
        </p:txBody>
      </p:sp>
      <p:sp>
        <p:nvSpPr>
          <p:cNvPr id="26" name="Shape 24"/>
          <p:cNvSpPr/>
          <p:nvPr/>
        </p:nvSpPr>
        <p:spPr>
          <a:xfrm>
            <a:off x="457200" y="4379976"/>
            <a:ext cx="11338560" cy="777240"/>
          </a:xfrm>
          <a:prstGeom prst="rect">
            <a:avLst/>
          </a:prstGeom>
          <a:solidFill>
            <a:srgbClr val="FFFFFF"/>
          </a:solidFill>
          <a:ln w="6350">
            <a:solidFill>
              <a:srgbClr val="E2E8F0"/>
            </a:solidFill>
            <a:prstDash val="solid"/>
          </a:ln>
        </p:spPr>
      </p:sp>
      <p:sp>
        <p:nvSpPr>
          <p:cNvPr id="27" name="Shape 25"/>
          <p:cNvSpPr/>
          <p:nvPr/>
        </p:nvSpPr>
        <p:spPr>
          <a:xfrm>
            <a:off x="457200" y="4379976"/>
            <a:ext cx="73152" cy="777240"/>
          </a:xfrm>
          <a:prstGeom prst="rect">
            <a:avLst/>
          </a:prstGeom>
          <a:solidFill>
            <a:srgbClr val="F59E0B"/>
          </a:solidFill>
          <a:ln w="12700">
            <a:solidFill>
              <a:srgbClr val="F59E0B"/>
            </a:solidFill>
            <a:prstDash val="solid"/>
          </a:ln>
        </p:spPr>
      </p:sp>
      <p:sp>
        <p:nvSpPr>
          <p:cNvPr id="28" name="Shape 26"/>
          <p:cNvSpPr/>
          <p:nvPr/>
        </p:nvSpPr>
        <p:spPr>
          <a:xfrm>
            <a:off x="685800" y="4581144"/>
            <a:ext cx="384048" cy="384048"/>
          </a:xfrm>
          <a:prstGeom prst="ellipse">
            <a:avLst/>
          </a:prstGeom>
          <a:solidFill>
            <a:srgbClr val="1E2761"/>
          </a:solidFill>
          <a:ln w="12700">
            <a:solidFill>
              <a:srgbClr val="1E2761"/>
            </a:solidFill>
            <a:prstDash val="solid"/>
          </a:ln>
        </p:spPr>
      </p:sp>
      <p:sp>
        <p:nvSpPr>
          <p:cNvPr id="29" name="Text 27"/>
          <p:cNvSpPr/>
          <p:nvPr/>
        </p:nvSpPr>
        <p:spPr>
          <a:xfrm>
            <a:off x="685800" y="4562856"/>
            <a:ext cx="384048"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30" name="Text 28"/>
          <p:cNvSpPr/>
          <p:nvPr/>
        </p:nvSpPr>
        <p:spPr>
          <a:xfrm>
            <a:off x="1234440" y="4471416"/>
            <a:ext cx="7772400" cy="64008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How do we handle the ~20% of cases that need raw PAN/PII — keep them on the cleared US team, or wait for TDM?</a:t>
            </a:r>
            <a:endParaRPr lang="en-US" sz="1200" dirty="0"/>
          </a:p>
        </p:txBody>
      </p:sp>
      <p:sp>
        <p:nvSpPr>
          <p:cNvPr id="31" name="Text 29"/>
          <p:cNvSpPr/>
          <p:nvPr/>
        </p:nvSpPr>
        <p:spPr>
          <a:xfrm>
            <a:off x="9144000" y="4498848"/>
            <a:ext cx="2560320"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QC Leads · Test Architects</a:t>
            </a:r>
            <a:endParaRPr lang="en-US" sz="1050" dirty="0"/>
          </a:p>
        </p:txBody>
      </p:sp>
      <p:sp>
        <p:nvSpPr>
          <p:cNvPr id="32" name="Text 30"/>
          <p:cNvSpPr/>
          <p:nvPr/>
        </p:nvSpPr>
        <p:spPr>
          <a:xfrm>
            <a:off x="9144000" y="4791456"/>
            <a:ext cx="256032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Impact: Capacity</a:t>
            </a:r>
            <a:endParaRPr lang="en-US" sz="1000" dirty="0"/>
          </a:p>
        </p:txBody>
      </p:sp>
      <p:sp>
        <p:nvSpPr>
          <p:cNvPr id="33" name="Shape 31"/>
          <p:cNvSpPr/>
          <p:nvPr/>
        </p:nvSpPr>
        <p:spPr>
          <a:xfrm>
            <a:off x="457200" y="5230368"/>
            <a:ext cx="11338560" cy="777240"/>
          </a:xfrm>
          <a:prstGeom prst="rect">
            <a:avLst/>
          </a:prstGeom>
          <a:solidFill>
            <a:srgbClr val="FFFFFF"/>
          </a:solidFill>
          <a:ln w="6350">
            <a:solidFill>
              <a:srgbClr val="E2E8F0"/>
            </a:solidFill>
            <a:prstDash val="solid"/>
          </a:ln>
        </p:spPr>
      </p:sp>
      <p:sp>
        <p:nvSpPr>
          <p:cNvPr id="34" name="Shape 32"/>
          <p:cNvSpPr/>
          <p:nvPr/>
        </p:nvSpPr>
        <p:spPr>
          <a:xfrm>
            <a:off x="457200" y="5230368"/>
            <a:ext cx="73152" cy="777240"/>
          </a:xfrm>
          <a:prstGeom prst="rect">
            <a:avLst/>
          </a:prstGeom>
          <a:solidFill>
            <a:srgbClr val="F59E0B"/>
          </a:solidFill>
          <a:ln w="12700">
            <a:solidFill>
              <a:srgbClr val="F59E0B"/>
            </a:solidFill>
            <a:prstDash val="solid"/>
          </a:ln>
        </p:spPr>
      </p:sp>
      <p:sp>
        <p:nvSpPr>
          <p:cNvPr id="35" name="Shape 33"/>
          <p:cNvSpPr/>
          <p:nvPr/>
        </p:nvSpPr>
        <p:spPr>
          <a:xfrm>
            <a:off x="685800" y="5431536"/>
            <a:ext cx="384048" cy="384048"/>
          </a:xfrm>
          <a:prstGeom prst="ellipse">
            <a:avLst/>
          </a:prstGeom>
          <a:solidFill>
            <a:srgbClr val="1E2761"/>
          </a:solidFill>
          <a:ln w="12700">
            <a:solidFill>
              <a:srgbClr val="1E2761"/>
            </a:solidFill>
            <a:prstDash val="solid"/>
          </a:ln>
        </p:spPr>
      </p:sp>
      <p:sp>
        <p:nvSpPr>
          <p:cNvPr id="36" name="Text 34"/>
          <p:cNvSpPr/>
          <p:nvPr/>
        </p:nvSpPr>
        <p:spPr>
          <a:xfrm>
            <a:off x="685800" y="5413248"/>
            <a:ext cx="384048"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37" name="Text 35"/>
          <p:cNvSpPr/>
          <p:nvPr/>
        </p:nvSpPr>
        <p:spPr>
          <a:xfrm>
            <a:off x="1234440" y="5321808"/>
            <a:ext cx="7772400" cy="64008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What's the trigger for retiring runtime redaction once Broadcom TDM matures — and who owns that call?</a:t>
            </a:r>
            <a:endParaRPr lang="en-US" sz="1200" dirty="0"/>
          </a:p>
        </p:txBody>
      </p:sp>
      <p:sp>
        <p:nvSpPr>
          <p:cNvPr id="38" name="Text 36"/>
          <p:cNvSpPr/>
          <p:nvPr/>
        </p:nvSpPr>
        <p:spPr>
          <a:xfrm>
            <a:off x="9144000" y="5349240"/>
            <a:ext cx="2560320"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Architecture · Program Mgmt</a:t>
            </a:r>
            <a:endParaRPr lang="en-US" sz="1050" dirty="0"/>
          </a:p>
        </p:txBody>
      </p:sp>
      <p:sp>
        <p:nvSpPr>
          <p:cNvPr id="39" name="Text 37"/>
          <p:cNvSpPr/>
          <p:nvPr/>
        </p:nvSpPr>
        <p:spPr>
          <a:xfrm>
            <a:off x="9144000" y="5641848"/>
            <a:ext cx="256032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Impact: Strategy</a:t>
            </a:r>
            <a:endParaRPr lang="en-US" sz="1000" dirty="0"/>
          </a:p>
        </p:txBody>
      </p:sp>
      <p:sp>
        <p:nvSpPr>
          <p:cNvPr id="40" name="Text 38"/>
          <p:cNvSpPr/>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Runtime Data Redaction in PTE  |  Commercial Cards QC Strategy</a:t>
            </a:r>
            <a:endParaRPr lang="en-US" sz="900" dirty="0"/>
          </a:p>
        </p:txBody>
      </p:sp>
      <p:sp>
        <p:nvSpPr>
          <p:cNvPr id="41" name="Text 39"/>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838"/>
        </a:solidFill>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1E2761">
              <a:alpha val="70000"/>
            </a:srgbClr>
          </a:solidFill>
          <a:ln w="12700">
            <a:solidFill>
              <a:srgbClr val="0F1838"/>
            </a:solidFill>
            <a:prstDash val="solid"/>
          </a:ln>
        </p:spPr>
      </p:sp>
      <p:sp>
        <p:nvSpPr>
          <p:cNvPr id="3" name="Shape 1"/>
          <p:cNvSpPr/>
          <p:nvPr/>
        </p:nvSpPr>
        <p:spPr>
          <a:xfrm>
            <a:off x="8229600" y="4114800"/>
            <a:ext cx="5486400" cy="5486400"/>
          </a:xfrm>
          <a:prstGeom prst="ellipse">
            <a:avLst/>
          </a:prstGeom>
          <a:solidFill>
            <a:srgbClr val="CADCFC">
              <a:alpha val="12000"/>
            </a:srgbClr>
          </a:solidFill>
          <a:ln w="12700">
            <a:solidFill>
              <a:srgbClr val="0F1838"/>
            </a:solidFill>
            <a:prstDash val="solid"/>
          </a:ln>
        </p:spPr>
      </p:sp>
      <p:sp>
        <p:nvSpPr>
          <p:cNvPr id="4" name="Text 2"/>
          <p:cNvSpPr/>
          <p:nvPr/>
        </p:nvSpPr>
        <p:spPr>
          <a:xfrm>
            <a:off x="640080" y="548640"/>
            <a:ext cx="10972800" cy="365760"/>
          </a:xfrm>
          <a:prstGeom prst="rect">
            <a:avLst/>
          </a:prstGeom>
          <a:noFill/>
          <a:ln/>
        </p:spPr>
        <p:txBody>
          <a:bodyPr wrap="square" lIns="0" tIns="0" rIns="0" bIns="0" rtlCol="0" anchor="ctr"/>
          <a:lstStyle/>
          <a:p>
            <a:pPr indent="0" marL="0">
              <a:buNone/>
            </a:pPr>
            <a:r>
              <a:rPr lang="en-US" sz="1200" b="1" spc="600" kern="0" dirty="0">
                <a:solidFill>
                  <a:srgbClr val="CADCFC"/>
                </a:solidFill>
                <a:latin typeface="Calibri" pitchFamily="34" charset="0"/>
                <a:ea typeface="Calibri" pitchFamily="34" charset="-122"/>
                <a:cs typeface="Calibri" pitchFamily="34" charset="-120"/>
              </a:rPr>
              <a:t>RECOMMENDATION</a:t>
            </a:r>
            <a:endParaRPr lang="en-US" sz="1200" dirty="0"/>
          </a:p>
        </p:txBody>
      </p:sp>
      <p:sp>
        <p:nvSpPr>
          <p:cNvPr id="5" name="Text 3"/>
          <p:cNvSpPr/>
          <p:nvPr/>
        </p:nvSpPr>
        <p:spPr>
          <a:xfrm>
            <a:off x="640080" y="960120"/>
            <a:ext cx="10972800" cy="146304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Pilot runtime redaction in PTE — gated on Phase 0 compliance buy-in</a:t>
            </a:r>
            <a:endParaRPr lang="en-US" sz="3000" dirty="0"/>
          </a:p>
        </p:txBody>
      </p:sp>
      <p:sp>
        <p:nvSpPr>
          <p:cNvPr id="6" name="Text 4"/>
          <p:cNvSpPr/>
          <p:nvPr/>
        </p:nvSpPr>
        <p:spPr>
          <a:xfrm>
            <a:off x="640080" y="2468880"/>
            <a:ext cx="10972800" cy="118872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A focused 4-week Phase 0 gives us a hard decision gate before any framework spend. If PCI and licensing align, Phase 1 pilot unlocks 70–80% of our QC capacity within a quarter. Broadcom TDM remains the destination; runtime redaction is what carries us there.</a:t>
            </a:r>
            <a:endParaRPr lang="en-US" sz="1400" dirty="0"/>
          </a:p>
        </p:txBody>
      </p:sp>
      <p:sp>
        <p:nvSpPr>
          <p:cNvPr id="7" name="Shape 5"/>
          <p:cNvSpPr/>
          <p:nvPr/>
        </p:nvSpPr>
        <p:spPr>
          <a:xfrm>
            <a:off x="426568" y="4297680"/>
            <a:ext cx="2194560" cy="1188720"/>
          </a:xfrm>
          <a:prstGeom prst="rect">
            <a:avLst/>
          </a:prstGeom>
          <a:solidFill>
            <a:srgbClr val="FFFFFF"/>
          </a:solidFill>
          <a:ln w="12700">
            <a:solidFill>
              <a:srgbClr val="FFFFFF"/>
            </a:solidFill>
            <a:prstDash val="solid"/>
          </a:ln>
        </p:spPr>
      </p:sp>
      <p:sp>
        <p:nvSpPr>
          <p:cNvPr id="8" name="Shape 6"/>
          <p:cNvSpPr/>
          <p:nvPr/>
        </p:nvSpPr>
        <p:spPr>
          <a:xfrm>
            <a:off x="609448" y="4480560"/>
            <a:ext cx="457200" cy="457200"/>
          </a:xfrm>
          <a:prstGeom prst="ellipse">
            <a:avLst/>
          </a:prstGeom>
          <a:solidFill>
            <a:srgbClr val="1E2761"/>
          </a:solidFill>
          <a:ln w="12700">
            <a:solidFill>
              <a:srgbClr val="1E2761"/>
            </a:solidFill>
            <a:prstDash val="solid"/>
          </a:ln>
        </p:spPr>
      </p:sp>
      <p:sp>
        <p:nvSpPr>
          <p:cNvPr id="9" name="Text 7"/>
          <p:cNvSpPr/>
          <p:nvPr/>
        </p:nvSpPr>
        <p:spPr>
          <a:xfrm>
            <a:off x="609448" y="44988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158088" y="4462272"/>
            <a:ext cx="1371600" cy="59436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Engage PCI compliance officer</a:t>
            </a:r>
            <a:endParaRPr lang="en-US" sz="1150" dirty="0"/>
          </a:p>
        </p:txBody>
      </p:sp>
      <p:sp>
        <p:nvSpPr>
          <p:cNvPr id="11" name="Text 9"/>
          <p:cNvSpPr/>
          <p:nvPr/>
        </p:nvSpPr>
        <p:spPr>
          <a:xfrm>
            <a:off x="1158088" y="5029200"/>
            <a:ext cx="1371600" cy="32004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Week 1</a:t>
            </a:r>
            <a:endParaRPr lang="en-US" sz="1000" dirty="0"/>
          </a:p>
        </p:txBody>
      </p:sp>
      <p:sp>
        <p:nvSpPr>
          <p:cNvPr id="12" name="Shape 10"/>
          <p:cNvSpPr/>
          <p:nvPr/>
        </p:nvSpPr>
        <p:spPr>
          <a:xfrm>
            <a:off x="2712568" y="4297680"/>
            <a:ext cx="2194560" cy="1188720"/>
          </a:xfrm>
          <a:prstGeom prst="rect">
            <a:avLst/>
          </a:prstGeom>
          <a:solidFill>
            <a:srgbClr val="FFFFFF"/>
          </a:solidFill>
          <a:ln w="12700">
            <a:solidFill>
              <a:srgbClr val="FFFFFF"/>
            </a:solidFill>
            <a:prstDash val="solid"/>
          </a:ln>
        </p:spPr>
      </p:sp>
      <p:sp>
        <p:nvSpPr>
          <p:cNvPr id="13" name="Shape 11"/>
          <p:cNvSpPr/>
          <p:nvPr/>
        </p:nvSpPr>
        <p:spPr>
          <a:xfrm>
            <a:off x="2895448" y="4480560"/>
            <a:ext cx="457200" cy="457200"/>
          </a:xfrm>
          <a:prstGeom prst="ellipse">
            <a:avLst/>
          </a:prstGeom>
          <a:solidFill>
            <a:srgbClr val="1E2761"/>
          </a:solidFill>
          <a:ln w="12700">
            <a:solidFill>
              <a:srgbClr val="1E2761"/>
            </a:solidFill>
            <a:prstDash val="solid"/>
          </a:ln>
        </p:spPr>
      </p:sp>
      <p:sp>
        <p:nvSpPr>
          <p:cNvPr id="14" name="Text 12"/>
          <p:cNvSpPr/>
          <p:nvPr/>
        </p:nvSpPr>
        <p:spPr>
          <a:xfrm>
            <a:off x="2895448" y="44988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5" name="Text 13"/>
          <p:cNvSpPr/>
          <p:nvPr/>
        </p:nvSpPr>
        <p:spPr>
          <a:xfrm>
            <a:off x="3444088" y="4462272"/>
            <a:ext cx="1371600" cy="59436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Confirm Oracle licensing</a:t>
            </a:r>
            <a:endParaRPr lang="en-US" sz="1150" dirty="0"/>
          </a:p>
        </p:txBody>
      </p:sp>
      <p:sp>
        <p:nvSpPr>
          <p:cNvPr id="16" name="Text 14"/>
          <p:cNvSpPr/>
          <p:nvPr/>
        </p:nvSpPr>
        <p:spPr>
          <a:xfrm>
            <a:off x="3444088" y="5029200"/>
            <a:ext cx="1371600" cy="32004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Week 1</a:t>
            </a:r>
            <a:endParaRPr lang="en-US" sz="1000" dirty="0"/>
          </a:p>
        </p:txBody>
      </p:sp>
      <p:sp>
        <p:nvSpPr>
          <p:cNvPr id="17" name="Shape 15"/>
          <p:cNvSpPr/>
          <p:nvPr/>
        </p:nvSpPr>
        <p:spPr>
          <a:xfrm>
            <a:off x="4998568" y="4297680"/>
            <a:ext cx="2194560" cy="1188720"/>
          </a:xfrm>
          <a:prstGeom prst="rect">
            <a:avLst/>
          </a:prstGeom>
          <a:solidFill>
            <a:srgbClr val="FFFFFF"/>
          </a:solidFill>
          <a:ln w="12700">
            <a:solidFill>
              <a:srgbClr val="FFFFFF"/>
            </a:solidFill>
            <a:prstDash val="solid"/>
          </a:ln>
        </p:spPr>
      </p:sp>
      <p:sp>
        <p:nvSpPr>
          <p:cNvPr id="18" name="Shape 16"/>
          <p:cNvSpPr/>
          <p:nvPr/>
        </p:nvSpPr>
        <p:spPr>
          <a:xfrm>
            <a:off x="5181448" y="4480560"/>
            <a:ext cx="457200" cy="457200"/>
          </a:xfrm>
          <a:prstGeom prst="ellipse">
            <a:avLst/>
          </a:prstGeom>
          <a:solidFill>
            <a:srgbClr val="1E2761"/>
          </a:solidFill>
          <a:ln w="12700">
            <a:solidFill>
              <a:srgbClr val="1E2761"/>
            </a:solidFill>
            <a:prstDash val="solid"/>
          </a:ln>
        </p:spPr>
      </p:sp>
      <p:sp>
        <p:nvSpPr>
          <p:cNvPr id="19" name="Text 17"/>
          <p:cNvSpPr/>
          <p:nvPr/>
        </p:nvSpPr>
        <p:spPr>
          <a:xfrm>
            <a:off x="5181448" y="44988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0" name="Text 18"/>
          <p:cNvSpPr/>
          <p:nvPr/>
        </p:nvSpPr>
        <p:spPr>
          <a:xfrm>
            <a:off x="5730088" y="4462272"/>
            <a:ext cx="1371600" cy="59436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Inventory sensitive columns</a:t>
            </a:r>
            <a:endParaRPr lang="en-US" sz="1150" dirty="0"/>
          </a:p>
        </p:txBody>
      </p:sp>
      <p:sp>
        <p:nvSpPr>
          <p:cNvPr id="21" name="Text 19"/>
          <p:cNvSpPr/>
          <p:nvPr/>
        </p:nvSpPr>
        <p:spPr>
          <a:xfrm>
            <a:off x="5730088" y="5029200"/>
            <a:ext cx="1371600" cy="32004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Weeks 2–3</a:t>
            </a:r>
            <a:endParaRPr lang="en-US" sz="1000" dirty="0"/>
          </a:p>
        </p:txBody>
      </p:sp>
      <p:sp>
        <p:nvSpPr>
          <p:cNvPr id="22" name="Shape 20"/>
          <p:cNvSpPr/>
          <p:nvPr/>
        </p:nvSpPr>
        <p:spPr>
          <a:xfrm>
            <a:off x="7284568" y="4297680"/>
            <a:ext cx="2194560" cy="1188720"/>
          </a:xfrm>
          <a:prstGeom prst="rect">
            <a:avLst/>
          </a:prstGeom>
          <a:solidFill>
            <a:srgbClr val="FFFFFF"/>
          </a:solidFill>
          <a:ln w="12700">
            <a:solidFill>
              <a:srgbClr val="FFFFFF"/>
            </a:solidFill>
            <a:prstDash val="solid"/>
          </a:ln>
        </p:spPr>
      </p:sp>
      <p:sp>
        <p:nvSpPr>
          <p:cNvPr id="23" name="Shape 21"/>
          <p:cNvSpPr/>
          <p:nvPr/>
        </p:nvSpPr>
        <p:spPr>
          <a:xfrm>
            <a:off x="7467448" y="4480560"/>
            <a:ext cx="457200" cy="457200"/>
          </a:xfrm>
          <a:prstGeom prst="ellipse">
            <a:avLst/>
          </a:prstGeom>
          <a:solidFill>
            <a:srgbClr val="1E2761"/>
          </a:solidFill>
          <a:ln w="12700">
            <a:solidFill>
              <a:srgbClr val="1E2761"/>
            </a:solidFill>
            <a:prstDash val="solid"/>
          </a:ln>
        </p:spPr>
      </p:sp>
      <p:sp>
        <p:nvSpPr>
          <p:cNvPr id="24" name="Text 22"/>
          <p:cNvSpPr/>
          <p:nvPr/>
        </p:nvSpPr>
        <p:spPr>
          <a:xfrm>
            <a:off x="7467448" y="44988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5" name="Text 23"/>
          <p:cNvSpPr/>
          <p:nvPr/>
        </p:nvSpPr>
        <p:spPr>
          <a:xfrm>
            <a:off x="8016088" y="4462272"/>
            <a:ext cx="1371600" cy="59436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Identify pilot test suite</a:t>
            </a:r>
            <a:endParaRPr lang="en-US" sz="1150" dirty="0"/>
          </a:p>
        </p:txBody>
      </p:sp>
      <p:sp>
        <p:nvSpPr>
          <p:cNvPr id="26" name="Text 24"/>
          <p:cNvSpPr/>
          <p:nvPr/>
        </p:nvSpPr>
        <p:spPr>
          <a:xfrm>
            <a:off x="8016088" y="5029200"/>
            <a:ext cx="1371600" cy="32004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Weeks 2–3</a:t>
            </a:r>
            <a:endParaRPr lang="en-US" sz="1000" dirty="0"/>
          </a:p>
        </p:txBody>
      </p:sp>
      <p:sp>
        <p:nvSpPr>
          <p:cNvPr id="27" name="Shape 25"/>
          <p:cNvSpPr/>
          <p:nvPr/>
        </p:nvSpPr>
        <p:spPr>
          <a:xfrm>
            <a:off x="9570568" y="4297680"/>
            <a:ext cx="2194560" cy="1188720"/>
          </a:xfrm>
          <a:prstGeom prst="rect">
            <a:avLst/>
          </a:prstGeom>
          <a:solidFill>
            <a:srgbClr val="FFFFFF"/>
          </a:solidFill>
          <a:ln w="12700">
            <a:solidFill>
              <a:srgbClr val="FFFFFF"/>
            </a:solidFill>
            <a:prstDash val="solid"/>
          </a:ln>
        </p:spPr>
      </p:sp>
      <p:sp>
        <p:nvSpPr>
          <p:cNvPr id="28" name="Shape 26"/>
          <p:cNvSpPr/>
          <p:nvPr/>
        </p:nvSpPr>
        <p:spPr>
          <a:xfrm>
            <a:off x="9753448" y="4480560"/>
            <a:ext cx="457200" cy="457200"/>
          </a:xfrm>
          <a:prstGeom prst="ellipse">
            <a:avLst/>
          </a:prstGeom>
          <a:solidFill>
            <a:srgbClr val="1E2761"/>
          </a:solidFill>
          <a:ln w="12700">
            <a:solidFill>
              <a:srgbClr val="1E2761"/>
            </a:solidFill>
            <a:prstDash val="solid"/>
          </a:ln>
        </p:spPr>
      </p:sp>
      <p:sp>
        <p:nvSpPr>
          <p:cNvPr id="29" name="Text 27"/>
          <p:cNvSpPr/>
          <p:nvPr/>
        </p:nvSpPr>
        <p:spPr>
          <a:xfrm>
            <a:off x="9753448" y="44988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30" name="Text 28"/>
          <p:cNvSpPr/>
          <p:nvPr/>
        </p:nvSpPr>
        <p:spPr>
          <a:xfrm>
            <a:off x="10302088" y="4462272"/>
            <a:ext cx="1371600" cy="59436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Phase 0 decision gate</a:t>
            </a:r>
            <a:endParaRPr lang="en-US" sz="1150" dirty="0"/>
          </a:p>
        </p:txBody>
      </p:sp>
      <p:sp>
        <p:nvSpPr>
          <p:cNvPr id="31" name="Text 29"/>
          <p:cNvSpPr/>
          <p:nvPr/>
        </p:nvSpPr>
        <p:spPr>
          <a:xfrm>
            <a:off x="10302088" y="5029200"/>
            <a:ext cx="1371600" cy="32004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End of week 4</a:t>
            </a:r>
            <a:endParaRPr lang="en-US" sz="1000" dirty="0"/>
          </a:p>
        </p:txBody>
      </p:sp>
      <p:sp>
        <p:nvSpPr>
          <p:cNvPr id="32" name="Text 30"/>
          <p:cNvSpPr/>
          <p:nvPr/>
        </p:nvSpPr>
        <p:spPr>
          <a:xfrm>
            <a:off x="640080" y="6035040"/>
            <a:ext cx="10972800" cy="365760"/>
          </a:xfrm>
          <a:prstGeom prst="rect">
            <a:avLst/>
          </a:prstGeom>
          <a:noFill/>
          <a:ln/>
        </p:spPr>
        <p:txBody>
          <a:bodyPr wrap="square" lIns="0" tIns="0" rIns="0" bIns="0" rtlCol="0" anchor="ctr"/>
          <a:lstStyle/>
          <a:p>
            <a:pPr algn="ctr" indent="0" marL="0">
              <a:buNone/>
            </a:pPr>
            <a:r>
              <a:rPr lang="en-US" sz="1200" i="1" spc="400" kern="0" dirty="0">
                <a:solidFill>
                  <a:srgbClr val="CADCFC"/>
                </a:solidFill>
                <a:latin typeface="Calibri" pitchFamily="34" charset="0"/>
                <a:ea typeface="Calibri" pitchFamily="34" charset="-122"/>
                <a:cs typeface="Calibri" pitchFamily="34" charset="-120"/>
              </a:rPr>
              <a:t>Discussion · Questions · Owners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Runtime Data Redaction in PTE</dc:title>
  <dc:subject>PptxGenJS Presentation</dc:subject>
  <dc:creator>QC Strategy</dc:creator>
  <cp:lastModifiedBy>QC Strategy</cp:lastModifiedBy>
  <cp:revision>1</cp:revision>
  <dcterms:created xsi:type="dcterms:W3CDTF">2026-05-25T22:29:00Z</dcterms:created>
  <dcterms:modified xsi:type="dcterms:W3CDTF">2026-05-25T22:29:00Z</dcterms:modified>
</cp:coreProperties>
</file>